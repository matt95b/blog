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62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6245"/>
  </p:normalViewPr>
  <p:slideViewPr>
    <p:cSldViewPr snapToGrid="0">
      <p:cViewPr varScale="1">
        <p:scale>
          <a:sx n="120" d="100"/>
          <a:sy n="120" d="100"/>
        </p:scale>
        <p:origin x="448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6915407-7368-4548-870A-005F388C30A0}" type="datetimeFigureOut">
              <a:rPr lang="en-US" smtClean="0"/>
              <a:t>4/22/26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CCABA2F-36B9-FB48-BE5D-42E1EB5B0D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335187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F4FBC3A-A12C-40F9-BB8D-BC30C7901396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717074"/>
                </a:solidFill>
                <a:effectLst/>
                <a:uLnTx/>
                <a:uFillTx/>
                <a:latin typeface="Metropolis" panose="00000500000000000000" pitchFamily="50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717074"/>
              </a:solidFill>
              <a:effectLst/>
              <a:uLnTx/>
              <a:uFillTx/>
              <a:latin typeface="Metropolis" panose="00000500000000000000" pitchFamily="50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0032622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036F58-6333-3496-38E6-A5ABD2638F7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26F93E5-7DB1-0D2F-C01A-F703DEA4CED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954AC53-C773-60C2-0B9A-3CE3C680E8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981924-B41E-9240-8DA3-DBCE994E41D1}" type="datetimeFigureOut">
              <a:rPr lang="en-US" smtClean="0"/>
              <a:t>4/22/26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F0B1085-089C-629B-A2FB-C553CC3EC6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CEE92B8-8501-4B1D-F1C4-42071E887E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959B7D-3B19-3249-AC8F-5FC8CA4F97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293109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F7B5E1-4A5D-EFC6-42E6-705FE1B4DB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575126-C36B-F302-1C79-77FE9F0951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1A1A8F-677A-E675-B7C4-0B18D343B3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981924-B41E-9240-8DA3-DBCE994E41D1}" type="datetimeFigureOut">
              <a:rPr lang="en-US" smtClean="0"/>
              <a:t>4/22/26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C331FEB-4813-C21E-C8E6-15EDB45966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A35C73E-ABF1-A3AF-DA3C-FB3FC6795C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959B7D-3B19-3249-AC8F-5FC8CA4F97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40473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0D116B-55B0-DF78-AC26-F9AB0DC2DD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2BE69A1-53FC-977E-0906-BF4C30986C4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8273D2C-ADB3-954E-1351-B09ADCFA04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981924-B41E-9240-8DA3-DBCE994E41D1}" type="datetimeFigureOut">
              <a:rPr lang="en-US" smtClean="0"/>
              <a:t>4/22/26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9538581-32D9-9573-F0A2-CF22FD9AAF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AC68AE-BB07-5DAE-2AAD-561B60827E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959B7D-3B19-3249-AC8F-5FC8CA4F97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97136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1AF113-C167-B7DC-E7F8-3FD6E6B1D4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B8C83D-BDBC-B46F-B0BF-B13559BFE15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756335B-5FA1-D1C4-C647-3DF42782D79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553BE17-FFE8-DA0D-BE02-5845804DC8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981924-B41E-9240-8DA3-DBCE994E41D1}" type="datetimeFigureOut">
              <a:rPr lang="en-US" smtClean="0"/>
              <a:t>4/22/26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6D52919-46F7-19E9-F0C8-847F88C7F7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3EF1BC6-99B8-025C-EEEC-BE03DB3C34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959B7D-3B19-3249-AC8F-5FC8CA4F97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95487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C89922-EDB8-8CDA-7307-398B985EB6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A98F8C5-A1EA-C341-A44D-B2090C5B23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4423A13-A2A2-030D-BE6D-73465BA5ACC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70181B8-1B6E-70AB-5374-90408D475AA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019D301-A9F4-A189-5CDD-74B857E8F73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9C7B20D-5666-5A17-5BA2-BDF83AD29B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981924-B41E-9240-8DA3-DBCE994E41D1}" type="datetimeFigureOut">
              <a:rPr lang="en-US" smtClean="0"/>
              <a:t>4/22/26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45CE0DE-E172-47DB-E05D-F930E736F9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2A2F311-D5DF-E8A7-D9C1-921BB05585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959B7D-3B19-3249-AC8F-5FC8CA4F97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34360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BA2804-1C87-A520-3909-D7EC11608D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BD90DC2-22DB-BC6C-7A2B-84CDE7FC3F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981924-B41E-9240-8DA3-DBCE994E41D1}" type="datetimeFigureOut">
              <a:rPr lang="en-US" smtClean="0"/>
              <a:t>4/22/26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1C8835D-F405-5136-B5F2-3985ABD52C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828F8F1-1917-16A3-6706-908625A7AF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959B7D-3B19-3249-AC8F-5FC8CA4F97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25729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FAF2E77-5DDE-DC17-3D56-760721F316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981924-B41E-9240-8DA3-DBCE994E41D1}" type="datetimeFigureOut">
              <a:rPr lang="en-US" smtClean="0"/>
              <a:t>4/22/26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94EE3F0-9D16-C44E-ADBB-32187C5EDE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C9F95C3-8BE2-6320-86A2-AAF919EBC5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959B7D-3B19-3249-AC8F-5FC8CA4F97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10207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B3A1DC-3CD3-DF14-1D49-3F6626E808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5C2669-97F9-83F2-E6ED-E4C13C2094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54006B6-43CC-93B1-053B-D607BEF9286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E6B76E6-839B-069F-2907-0F8F0C70D1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981924-B41E-9240-8DA3-DBCE994E41D1}" type="datetimeFigureOut">
              <a:rPr lang="en-US" smtClean="0"/>
              <a:t>4/22/26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F7F426F-C185-833C-01FD-1C5C24E297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AAFD645-8EAC-B6CD-FF50-6C438C71A7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959B7D-3B19-3249-AC8F-5FC8CA4F97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82915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8F4AB7-D5A0-FA05-F9F5-91427481CC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D2B8BA9-CB48-04C1-8543-FB5E60F494E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3C9894A-6AA3-7BBB-8D67-ED15EA4D567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F518674-6AF5-F178-ADA1-5793111364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981924-B41E-9240-8DA3-DBCE994E41D1}" type="datetimeFigureOut">
              <a:rPr lang="en-US" smtClean="0"/>
              <a:t>4/22/26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94511F2-2617-7A74-EEF1-3756910AED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5FE2A01-B9BD-3B58-8163-509580F9CD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959B7D-3B19-3249-AC8F-5FC8CA4F97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78598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F1FD7C-F46E-BEA4-3227-E188E14CAD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80DD3B2-C457-C4B0-8DFB-EFF39E1E835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A0E5D6-536A-35EE-2D4F-AAD61B3A6D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981924-B41E-9240-8DA3-DBCE994E41D1}" type="datetimeFigureOut">
              <a:rPr lang="en-US" smtClean="0"/>
              <a:t>4/22/26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349C746-B49C-F57C-14B8-45B5F99881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5E2550-EC59-9B5D-9582-7D0CFD9A64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959B7D-3B19-3249-AC8F-5FC8CA4F97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45599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DC4EAC1-A9D8-13B2-FEDA-416267495BF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6F9D590-7C7B-3DCE-B08F-E9506581BE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5DD1A7A-572F-C3A4-1D73-C3891D47AC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981924-B41E-9240-8DA3-DBCE994E41D1}" type="datetimeFigureOut">
              <a:rPr lang="en-US" smtClean="0"/>
              <a:t>4/22/26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4C87F19-8AFC-5840-D16B-5A3062441F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45CA65-2DF2-39D5-653D-43BE3596B4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959B7D-3B19-3249-AC8F-5FC8CA4F97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553775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3">
            <a:extLst>
              <a:ext uri="{FF2B5EF4-FFF2-40B4-BE49-F238E27FC236}">
                <a16:creationId xmlns:a16="http://schemas.microsoft.com/office/drawing/2014/main" id="{A2A19042-09D4-BBB2-8395-ABA09D52DBC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60349" y="365126"/>
            <a:ext cx="10515600" cy="465772"/>
          </a:xfrm>
          <a:prstGeom prst="rect">
            <a:avLst/>
          </a:prstGeom>
        </p:spPr>
        <p:txBody>
          <a:bodyPr lIns="90000" anchor="t">
            <a:noAutofit/>
          </a:bodyPr>
          <a:lstStyle>
            <a:lvl1pPr>
              <a:defRPr sz="3200"/>
            </a:lvl1pPr>
          </a:lstStyle>
          <a:p>
            <a:r>
              <a:rPr lang="en-US"/>
              <a:t>Blank slide for org charts, </a:t>
            </a:r>
            <a:r>
              <a:rPr lang="en-US" err="1"/>
              <a:t>etc</a:t>
            </a:r>
            <a:endParaRPr lang="en-IL"/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608F6DBD-639B-3E90-D770-B75E4F251B2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60375" y="844813"/>
            <a:ext cx="10515574" cy="3317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To edit this slide refer to instruction box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E836D880-35DE-91AF-E748-3E8BB0BBE4EE}"/>
              </a:ext>
            </a:extLst>
          </p:cNvPr>
          <p:cNvSpPr/>
          <p:nvPr/>
        </p:nvSpPr>
        <p:spPr>
          <a:xfrm>
            <a:off x="0" y="6812282"/>
            <a:ext cx="12188825" cy="45719"/>
          </a:xfrm>
          <a:prstGeom prst="rect">
            <a:avLst/>
          </a:prstGeom>
          <a:gradFill>
            <a:gsLst>
              <a:gs pos="48000">
                <a:srgbClr val="4A12F1"/>
              </a:gs>
              <a:gs pos="0">
                <a:srgbClr val="001E60"/>
              </a:gs>
              <a:gs pos="100000">
                <a:srgbClr val="D00AFF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ctr" defTabSz="914034" rtl="0" eaLnBrk="1" latinLnBrk="0" hangingPunct="1"/>
            <a:endParaRPr lang="en-IL" sz="1799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F37EF00-8A91-49B3-E0C8-9391ED9733DD}"/>
              </a:ext>
            </a:extLst>
          </p:cNvPr>
          <p:cNvSpPr/>
          <p:nvPr/>
        </p:nvSpPr>
        <p:spPr>
          <a:xfrm>
            <a:off x="0" y="6812282"/>
            <a:ext cx="12188825" cy="45719"/>
          </a:xfrm>
          <a:prstGeom prst="rect">
            <a:avLst/>
          </a:prstGeom>
          <a:gradFill>
            <a:gsLst>
              <a:gs pos="48000">
                <a:srgbClr val="4A12F1"/>
              </a:gs>
              <a:gs pos="0">
                <a:srgbClr val="001E60"/>
              </a:gs>
              <a:gs pos="100000">
                <a:srgbClr val="D00AFF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ctr" defTabSz="914034" rtl="0" eaLnBrk="1" latinLnBrk="0" hangingPunct="1"/>
            <a:endParaRPr lang="en-IL" sz="1799"/>
          </a:p>
        </p:txBody>
      </p:sp>
    </p:spTree>
    <p:extLst>
      <p:ext uri="{BB962C8B-B14F-4D97-AF65-F5344CB8AC3E}">
        <p14:creationId xmlns:p14="http://schemas.microsoft.com/office/powerpoint/2010/main" val="424626374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57E63D4-6151-B9E8-BAA5-6BBDBCE375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306CE55-FACA-BED0-8E0E-7CA2BCC9986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6179FA-C08E-A790-5DF1-017D24EBAD7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7981924-B41E-9240-8DA3-DBCE994E41D1}" type="datetimeFigureOut">
              <a:rPr lang="en-US" smtClean="0"/>
              <a:t>4/22/26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DB43F3-7126-0A68-3284-1D462E219AE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08DDA2-5DFA-8D0B-98B9-B5E95180309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1959B7D-3B19-3249-AC8F-5FC8CA4F97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86455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1086FA37-8963-452D-972E-83C510F16E35}"/>
              </a:ext>
            </a:extLst>
          </p:cNvPr>
          <p:cNvSpPr/>
          <p:nvPr/>
        </p:nvSpPr>
        <p:spPr>
          <a:xfrm>
            <a:off x="5311665" y="4009851"/>
            <a:ext cx="1554075" cy="247678"/>
          </a:xfrm>
          <a:prstGeom prst="rect">
            <a:avLst/>
          </a:prstGeom>
          <a:solidFill>
            <a:srgbClr val="459B36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16" tIns="45708" rIns="91416" bIns="45708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Aft>
                <a:spcPts val="600"/>
              </a:spcAft>
              <a:defRPr/>
            </a:pPr>
            <a:r>
              <a:rPr lang="en-US" sz="750">
                <a:solidFill>
                  <a:srgbClr val="FFFFFF"/>
                </a:solidFill>
                <a:latin typeface="Metropolis"/>
              </a:rPr>
              <a:t>Workspace ONE Boxer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E3793CD-AD0D-4A50-A81F-4B26520A9330}"/>
              </a:ext>
            </a:extLst>
          </p:cNvPr>
          <p:cNvSpPr/>
          <p:nvPr/>
        </p:nvSpPr>
        <p:spPr>
          <a:xfrm>
            <a:off x="6939367" y="1355360"/>
            <a:ext cx="1554075" cy="247678"/>
          </a:xfrm>
          <a:prstGeom prst="rect">
            <a:avLst/>
          </a:prstGeom>
          <a:solidFill>
            <a:srgbClr val="459B36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16" tIns="45708" rIns="91416" bIns="45708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Aft>
                <a:spcPts val="600"/>
              </a:spcAft>
              <a:defRPr/>
            </a:pPr>
            <a:r>
              <a:rPr lang="en-US" sz="750">
                <a:solidFill>
                  <a:srgbClr val="FFFFFF"/>
                </a:solidFill>
                <a:latin typeface="Metropolis"/>
              </a:rPr>
              <a:t>Mobile App Management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F6CA6FB-585E-4B87-A136-6B76B4C46A1A}"/>
              </a:ext>
            </a:extLst>
          </p:cNvPr>
          <p:cNvSpPr/>
          <p:nvPr/>
        </p:nvSpPr>
        <p:spPr>
          <a:xfrm>
            <a:off x="2064205" y="4347234"/>
            <a:ext cx="1554075" cy="247678"/>
          </a:xfrm>
          <a:prstGeom prst="rect">
            <a:avLst/>
          </a:prstGeom>
          <a:solidFill>
            <a:srgbClr val="459B36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16" tIns="45708" rIns="91416" bIns="45708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Aft>
                <a:spcPts val="600"/>
              </a:spcAft>
              <a:defRPr/>
            </a:pPr>
            <a:r>
              <a:rPr lang="en-US" sz="750">
                <a:solidFill>
                  <a:srgbClr val="FFFFFF"/>
                </a:solidFill>
                <a:latin typeface="Metropolis"/>
              </a:rPr>
              <a:t>Workspace ONE Web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9FF917A-ECE0-43C7-B4E8-84B0B419DEDC}"/>
              </a:ext>
            </a:extLst>
          </p:cNvPr>
          <p:cNvSpPr/>
          <p:nvPr/>
        </p:nvSpPr>
        <p:spPr>
          <a:xfrm>
            <a:off x="5311665" y="4347234"/>
            <a:ext cx="1554075" cy="247678"/>
          </a:xfrm>
          <a:prstGeom prst="rect">
            <a:avLst/>
          </a:prstGeom>
          <a:solidFill>
            <a:srgbClr val="F8981D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16" tIns="45708" rIns="91416" bIns="45708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Aft>
                <a:spcPts val="600"/>
              </a:spcAft>
              <a:defRPr/>
            </a:pPr>
            <a:r>
              <a:rPr lang="en-US" sz="750">
                <a:solidFill>
                  <a:srgbClr val="FFFFFF"/>
                </a:solidFill>
                <a:latin typeface="Metropolis"/>
              </a:rPr>
              <a:t>Workspace ONE Send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130C75A-923F-4609-A94F-E0BC40CAF72A}"/>
              </a:ext>
            </a:extLst>
          </p:cNvPr>
          <p:cNvSpPr/>
          <p:nvPr/>
        </p:nvSpPr>
        <p:spPr>
          <a:xfrm>
            <a:off x="3691258" y="4347234"/>
            <a:ext cx="1554075" cy="247678"/>
          </a:xfrm>
          <a:prstGeom prst="rect">
            <a:avLst/>
          </a:prstGeom>
          <a:solidFill>
            <a:srgbClr val="F8981C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16" tIns="45708" rIns="91416" bIns="45708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Aft>
                <a:spcPts val="600"/>
              </a:spcAft>
              <a:defRPr/>
            </a:pPr>
            <a:r>
              <a:rPr lang="en-US" sz="750" dirty="0">
                <a:solidFill>
                  <a:srgbClr val="FFFFFF"/>
                </a:solidFill>
                <a:latin typeface="Metropolis"/>
              </a:rPr>
              <a:t>Workspace ONE Content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392FB83-8FB7-411E-B431-A63ABAC5B8EF}"/>
              </a:ext>
            </a:extLst>
          </p:cNvPr>
          <p:cNvSpPr/>
          <p:nvPr/>
        </p:nvSpPr>
        <p:spPr>
          <a:xfrm>
            <a:off x="2064205" y="2001433"/>
            <a:ext cx="1554075" cy="247679"/>
          </a:xfrm>
          <a:prstGeom prst="rect">
            <a:avLst/>
          </a:prstGeom>
          <a:solidFill>
            <a:srgbClr val="459B36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16" tIns="45708" rIns="91416" bIns="45708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Aft>
                <a:spcPts val="600"/>
              </a:spcAft>
              <a:defRPr/>
            </a:pPr>
            <a:r>
              <a:rPr lang="en-US" sz="750">
                <a:solidFill>
                  <a:srgbClr val="FFFFFF"/>
                </a:solidFill>
                <a:latin typeface="Metropolis"/>
              </a:rPr>
              <a:t>Modern Desktop Management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3A85354-DD50-4419-A702-639C3433AC8E}"/>
              </a:ext>
            </a:extLst>
          </p:cNvPr>
          <p:cNvSpPr/>
          <p:nvPr/>
        </p:nvSpPr>
        <p:spPr>
          <a:xfrm>
            <a:off x="3691258" y="2001433"/>
            <a:ext cx="1554075" cy="247679"/>
          </a:xfrm>
          <a:prstGeom prst="rect">
            <a:avLst/>
          </a:prstGeom>
          <a:solidFill>
            <a:srgbClr val="459B36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16" tIns="45708" rIns="91416" bIns="45708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Aft>
                <a:spcPts val="600"/>
              </a:spcAft>
              <a:defRPr/>
            </a:pPr>
            <a:r>
              <a:rPr lang="en-US" sz="750">
                <a:solidFill>
                  <a:srgbClr val="FFFFFF"/>
                </a:solidFill>
                <a:latin typeface="Metropolis"/>
              </a:rPr>
              <a:t>Advanced Desktop Management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AF3D14E-5195-44E9-8F23-973098AD052C}"/>
              </a:ext>
            </a:extLst>
          </p:cNvPr>
          <p:cNvSpPr/>
          <p:nvPr/>
        </p:nvSpPr>
        <p:spPr>
          <a:xfrm>
            <a:off x="2064205" y="3549454"/>
            <a:ext cx="1554075" cy="247678"/>
          </a:xfrm>
          <a:prstGeom prst="rect">
            <a:avLst/>
          </a:prstGeom>
          <a:solidFill>
            <a:srgbClr val="F8981D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16" tIns="45708" rIns="91416" bIns="45708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Aft>
                <a:spcPts val="600"/>
              </a:spcAft>
              <a:defRPr/>
            </a:pPr>
            <a:r>
              <a:rPr lang="en-US" sz="750">
                <a:solidFill>
                  <a:srgbClr val="FFFFFF"/>
                </a:solidFill>
                <a:latin typeface="Metropolis"/>
              </a:rPr>
              <a:t>Device Health &amp; Security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84B0B99-749E-4B65-BC4F-FFE48DFCB95B}"/>
              </a:ext>
            </a:extLst>
          </p:cNvPr>
          <p:cNvSpPr txBox="1"/>
          <p:nvPr/>
        </p:nvSpPr>
        <p:spPr>
          <a:xfrm>
            <a:off x="611409" y="1356879"/>
            <a:ext cx="1220992" cy="914400"/>
          </a:xfrm>
          <a:prstGeom prst="rect">
            <a:avLst/>
          </a:prstGeom>
        </p:spPr>
        <p:txBody>
          <a:bodyPr wrap="square" lIns="0" tIns="0" rIns="0" bIns="0" rtlCol="0" anchor="ctr">
            <a:noAutofit/>
          </a:bodyPr>
          <a:lstStyle/>
          <a:p>
            <a:pPr>
              <a:spcAft>
                <a:spcPts val="600"/>
              </a:spcAft>
              <a:defRPr/>
            </a:pPr>
            <a:r>
              <a:rPr lang="en-US" sz="900" dirty="0">
                <a:solidFill>
                  <a:srgbClr val="FFFFFF">
                    <a:lumMod val="50000"/>
                  </a:srgbClr>
                </a:solidFill>
                <a:latin typeface="Metropolis"/>
              </a:rPr>
              <a:t>UNIFIED ENDPOINT MANAGEMENT &amp; IT ORCHESTRATION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213AC15-0D51-4E77-946D-CE759F5CBF8B}"/>
              </a:ext>
            </a:extLst>
          </p:cNvPr>
          <p:cNvSpPr txBox="1"/>
          <p:nvPr/>
        </p:nvSpPr>
        <p:spPr>
          <a:xfrm>
            <a:off x="611409" y="3245383"/>
            <a:ext cx="1220992" cy="581105"/>
          </a:xfrm>
          <a:prstGeom prst="rect">
            <a:avLst/>
          </a:prstGeom>
        </p:spPr>
        <p:txBody>
          <a:bodyPr wrap="square" lIns="0" tIns="0" rIns="0" bIns="0" rtlCol="0" anchor="ctr">
            <a:noAutofit/>
          </a:bodyPr>
          <a:lstStyle/>
          <a:p>
            <a:pPr>
              <a:spcAft>
                <a:spcPts val="600"/>
              </a:spcAft>
              <a:defRPr/>
            </a:pPr>
            <a:r>
              <a:rPr lang="en-US" sz="900">
                <a:solidFill>
                  <a:srgbClr val="FFFFFF">
                    <a:lumMod val="50000"/>
                  </a:srgbClr>
                </a:solidFill>
                <a:latin typeface="Metropolis"/>
              </a:rPr>
              <a:t>REPORTING, AUTOMATION, &amp; ANALYTICS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CC39ADB-AEBF-434D-9829-58F74E9C81DB}"/>
              </a:ext>
            </a:extLst>
          </p:cNvPr>
          <p:cNvSpPr txBox="1"/>
          <p:nvPr/>
        </p:nvSpPr>
        <p:spPr>
          <a:xfrm>
            <a:off x="611409" y="4008174"/>
            <a:ext cx="1089612" cy="594359"/>
          </a:xfrm>
          <a:prstGeom prst="rect">
            <a:avLst/>
          </a:prstGeom>
        </p:spPr>
        <p:txBody>
          <a:bodyPr wrap="square" lIns="0" tIns="0" rIns="0" bIns="0" rtlCol="0" anchor="ctr">
            <a:noAutofit/>
          </a:bodyPr>
          <a:lstStyle/>
          <a:p>
            <a:pPr>
              <a:spcAft>
                <a:spcPts val="600"/>
              </a:spcAft>
              <a:defRPr/>
            </a:pPr>
            <a:r>
              <a:rPr lang="en-US" sz="900">
                <a:solidFill>
                  <a:srgbClr val="FFFFFF">
                    <a:lumMod val="50000"/>
                  </a:srgbClr>
                </a:solidFill>
                <a:latin typeface="Metropolis"/>
              </a:rPr>
              <a:t>MOBILE PRODUCTIVITY APPS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5CA43C9-733D-424F-AEB7-33FC6143ABF9}"/>
              </a:ext>
            </a:extLst>
          </p:cNvPr>
          <p:cNvSpPr txBox="1"/>
          <p:nvPr/>
        </p:nvSpPr>
        <p:spPr>
          <a:xfrm>
            <a:off x="611409" y="4835032"/>
            <a:ext cx="1220992" cy="609206"/>
          </a:xfrm>
          <a:prstGeom prst="rect">
            <a:avLst/>
          </a:prstGeom>
        </p:spPr>
        <p:txBody>
          <a:bodyPr wrap="square" lIns="0" tIns="0" rIns="0" bIns="0" rtlCol="0" anchor="ctr">
            <a:noAutofit/>
          </a:bodyPr>
          <a:lstStyle/>
          <a:p>
            <a:pPr>
              <a:spcAft>
                <a:spcPts val="600"/>
              </a:spcAft>
              <a:defRPr/>
            </a:pPr>
            <a:r>
              <a:rPr lang="en-US" sz="900">
                <a:solidFill>
                  <a:srgbClr val="FFFFFF">
                    <a:lumMod val="50000"/>
                  </a:srgbClr>
                </a:solidFill>
                <a:latin typeface="Metropolis"/>
              </a:rPr>
              <a:t>EMPLOYEE LIFECYCLE EXPERIENCE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8ABBCF5A-D37D-4611-9293-CA7B8CCCDD6A}"/>
              </a:ext>
            </a:extLst>
          </p:cNvPr>
          <p:cNvCxnSpPr>
            <a:cxnSpLocks/>
          </p:cNvCxnSpPr>
          <p:nvPr/>
        </p:nvCxnSpPr>
        <p:spPr bwMode="gray">
          <a:xfrm>
            <a:off x="623029" y="4718359"/>
            <a:ext cx="9690116" cy="7033"/>
          </a:xfrm>
          <a:prstGeom prst="line">
            <a:avLst/>
          </a:prstGeom>
          <a:ln w="12700">
            <a:solidFill>
              <a:schemeClr val="tx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Rectangle 20">
            <a:extLst>
              <a:ext uri="{FF2B5EF4-FFF2-40B4-BE49-F238E27FC236}">
                <a16:creationId xmlns:a16="http://schemas.microsoft.com/office/drawing/2014/main" id="{F680BCC0-37C2-409E-B762-0BEAF543ACFC}"/>
              </a:ext>
            </a:extLst>
          </p:cNvPr>
          <p:cNvSpPr/>
          <p:nvPr/>
        </p:nvSpPr>
        <p:spPr>
          <a:xfrm>
            <a:off x="2064205" y="4835625"/>
            <a:ext cx="1554075" cy="247678"/>
          </a:xfrm>
          <a:prstGeom prst="rect">
            <a:avLst/>
          </a:prstGeom>
          <a:solidFill>
            <a:srgbClr val="459B36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16" tIns="45708" rIns="91416" bIns="45708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Aft>
                <a:spcPts val="600"/>
              </a:spcAft>
              <a:defRPr/>
            </a:pPr>
            <a:r>
              <a:rPr lang="en-US" sz="750">
                <a:solidFill>
                  <a:srgbClr val="FFFFFF"/>
                </a:solidFill>
                <a:latin typeface="Metropolis"/>
              </a:rPr>
              <a:t>Workspace ONE Intelligent Hub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62ED6C81-CAA1-4753-946C-9381927B8E98}"/>
              </a:ext>
            </a:extLst>
          </p:cNvPr>
          <p:cNvSpPr/>
          <p:nvPr/>
        </p:nvSpPr>
        <p:spPr>
          <a:xfrm>
            <a:off x="3691258" y="4835625"/>
            <a:ext cx="1554075" cy="247678"/>
          </a:xfrm>
          <a:prstGeom prst="rect">
            <a:avLst/>
          </a:prstGeom>
          <a:solidFill>
            <a:srgbClr val="459B36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16" tIns="45708" rIns="91416" bIns="45708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Aft>
                <a:spcPts val="600"/>
              </a:spcAft>
              <a:defRPr/>
            </a:pPr>
            <a:r>
              <a:rPr lang="en-US" sz="750">
                <a:solidFill>
                  <a:srgbClr val="FFFFFF"/>
                </a:solidFill>
                <a:latin typeface="Metropolis"/>
              </a:rPr>
              <a:t>Catalog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53EE921B-0538-43F9-BAA1-A4B25CB20984}"/>
              </a:ext>
            </a:extLst>
          </p:cNvPr>
          <p:cNvSpPr/>
          <p:nvPr/>
        </p:nvSpPr>
        <p:spPr>
          <a:xfrm>
            <a:off x="5311665" y="4835625"/>
            <a:ext cx="1554075" cy="247678"/>
          </a:xfrm>
          <a:prstGeom prst="rect">
            <a:avLst/>
          </a:prstGeom>
          <a:solidFill>
            <a:srgbClr val="F8981D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16" tIns="45708" rIns="91416" bIns="45708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Aft>
                <a:spcPts val="600"/>
              </a:spcAft>
              <a:defRPr/>
            </a:pPr>
            <a:r>
              <a:rPr lang="en-US" sz="750">
                <a:solidFill>
                  <a:srgbClr val="FFFFFF"/>
                </a:solidFill>
                <a:latin typeface="Metropolis"/>
              </a:rPr>
              <a:t>People</a:t>
            </a:r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F7DAF16B-9087-4DBF-B834-8DCE509CC68F}"/>
              </a:ext>
            </a:extLst>
          </p:cNvPr>
          <p:cNvCxnSpPr>
            <a:cxnSpLocks/>
          </p:cNvCxnSpPr>
          <p:nvPr/>
        </p:nvCxnSpPr>
        <p:spPr bwMode="gray">
          <a:xfrm>
            <a:off x="611408" y="3915524"/>
            <a:ext cx="9690116" cy="7033"/>
          </a:xfrm>
          <a:prstGeom prst="line">
            <a:avLst/>
          </a:prstGeom>
          <a:ln w="12700">
            <a:solidFill>
              <a:schemeClr val="tx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711A4B82-2E1D-426D-88B0-149CEEC826B6}"/>
              </a:ext>
            </a:extLst>
          </p:cNvPr>
          <p:cNvCxnSpPr>
            <a:cxnSpLocks/>
          </p:cNvCxnSpPr>
          <p:nvPr/>
        </p:nvCxnSpPr>
        <p:spPr bwMode="gray">
          <a:xfrm>
            <a:off x="611408" y="3132446"/>
            <a:ext cx="9690116" cy="7033"/>
          </a:xfrm>
          <a:prstGeom prst="line">
            <a:avLst/>
          </a:prstGeom>
          <a:ln w="12700">
            <a:solidFill>
              <a:schemeClr val="tx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Rectangle 25">
            <a:extLst>
              <a:ext uri="{FF2B5EF4-FFF2-40B4-BE49-F238E27FC236}">
                <a16:creationId xmlns:a16="http://schemas.microsoft.com/office/drawing/2014/main" id="{C0805254-F51B-40D9-94D0-546C1FDD5A30}"/>
              </a:ext>
            </a:extLst>
          </p:cNvPr>
          <p:cNvSpPr/>
          <p:nvPr/>
        </p:nvSpPr>
        <p:spPr>
          <a:xfrm>
            <a:off x="3691258" y="2445518"/>
            <a:ext cx="1554075" cy="247678"/>
          </a:xfrm>
          <a:prstGeom prst="rect">
            <a:avLst/>
          </a:prstGeom>
          <a:solidFill>
            <a:srgbClr val="F8981D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16" tIns="45708" rIns="91416" bIns="45708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Aft>
                <a:spcPts val="600"/>
              </a:spcAft>
              <a:defRPr/>
            </a:pPr>
            <a:r>
              <a:rPr lang="en-US" sz="750">
                <a:solidFill>
                  <a:srgbClr val="FFFFFF"/>
                </a:solidFill>
                <a:latin typeface="Metropolis"/>
              </a:rPr>
              <a:t>Identity Provider (</a:t>
            </a:r>
            <a:r>
              <a:rPr lang="en-US" sz="750" err="1">
                <a:solidFill>
                  <a:srgbClr val="FFFFFF"/>
                </a:solidFill>
                <a:latin typeface="Metropolis"/>
              </a:rPr>
              <a:t>IdP</a:t>
            </a:r>
            <a:r>
              <a:rPr lang="en-US" sz="750">
                <a:solidFill>
                  <a:srgbClr val="FFFFFF"/>
                </a:solidFill>
                <a:latin typeface="Metropolis"/>
              </a:rPr>
              <a:t>)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0BCBEFA8-F308-42B2-BBF3-0537FDDE0B93}"/>
              </a:ext>
            </a:extLst>
          </p:cNvPr>
          <p:cNvSpPr/>
          <p:nvPr/>
        </p:nvSpPr>
        <p:spPr>
          <a:xfrm>
            <a:off x="5318307" y="2755480"/>
            <a:ext cx="1554075" cy="247678"/>
          </a:xfrm>
          <a:prstGeom prst="rect">
            <a:avLst/>
          </a:prstGeom>
          <a:solidFill>
            <a:srgbClr val="F8981D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16" tIns="45708" rIns="91416" bIns="45708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Aft>
                <a:spcPts val="600"/>
              </a:spcAft>
              <a:defRPr/>
            </a:pPr>
            <a:r>
              <a:rPr lang="en-US" sz="750">
                <a:solidFill>
                  <a:srgbClr val="FFFFFF"/>
                </a:solidFill>
                <a:latin typeface="Metropolis"/>
              </a:rPr>
              <a:t>Multifactor Auth (MFA)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EA717551-1264-486B-B363-F0DEB15A9D3B}"/>
              </a:ext>
            </a:extLst>
          </p:cNvPr>
          <p:cNvSpPr/>
          <p:nvPr/>
        </p:nvSpPr>
        <p:spPr>
          <a:xfrm>
            <a:off x="2064205" y="1673685"/>
            <a:ext cx="1554075" cy="247678"/>
          </a:xfrm>
          <a:prstGeom prst="rect">
            <a:avLst/>
          </a:prstGeom>
          <a:solidFill>
            <a:srgbClr val="F8981D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16" tIns="45708" rIns="91416" bIns="45708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Aft>
                <a:spcPts val="600"/>
              </a:spcAft>
              <a:defRPr/>
            </a:pPr>
            <a:r>
              <a:rPr lang="en-US" sz="750">
                <a:solidFill>
                  <a:srgbClr val="FFFFFF"/>
                </a:solidFill>
                <a:latin typeface="Metropolis"/>
              </a:rPr>
              <a:t>Secure Email Gateway (SEG)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74D29942-7AA2-43C0-8230-CB5F39C7880B}"/>
              </a:ext>
            </a:extLst>
          </p:cNvPr>
          <p:cNvSpPr/>
          <p:nvPr/>
        </p:nvSpPr>
        <p:spPr>
          <a:xfrm>
            <a:off x="3698559" y="1666317"/>
            <a:ext cx="1554075" cy="247678"/>
          </a:xfrm>
          <a:prstGeom prst="rect">
            <a:avLst/>
          </a:prstGeom>
          <a:solidFill>
            <a:srgbClr val="459B36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16" tIns="45708" rIns="91416" bIns="45708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Aft>
                <a:spcPts val="600"/>
              </a:spcAft>
              <a:defRPr/>
            </a:pPr>
            <a:r>
              <a:rPr lang="en-US" sz="750">
                <a:solidFill>
                  <a:srgbClr val="FFFFFF"/>
                </a:solidFill>
                <a:latin typeface="Metropolis"/>
              </a:rPr>
              <a:t>Mobile Email Management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3E41FD6B-37E7-41D8-B83D-F46A6CB0067B}"/>
              </a:ext>
            </a:extLst>
          </p:cNvPr>
          <p:cNvSpPr txBox="1"/>
          <p:nvPr/>
        </p:nvSpPr>
        <p:spPr>
          <a:xfrm>
            <a:off x="611409" y="2451354"/>
            <a:ext cx="1220992" cy="566030"/>
          </a:xfrm>
          <a:prstGeom prst="rect">
            <a:avLst/>
          </a:prstGeom>
        </p:spPr>
        <p:txBody>
          <a:bodyPr wrap="square" lIns="0" tIns="0" rIns="0" bIns="0" rtlCol="0" anchor="ctr">
            <a:noAutofit/>
          </a:bodyPr>
          <a:lstStyle/>
          <a:p>
            <a:pPr>
              <a:spcAft>
                <a:spcPts val="600"/>
              </a:spcAft>
              <a:defRPr/>
            </a:pPr>
            <a:r>
              <a:rPr lang="en-US" sz="900">
                <a:solidFill>
                  <a:srgbClr val="FFFFFF">
                    <a:lumMod val="50000"/>
                  </a:srgbClr>
                </a:solidFill>
                <a:latin typeface="Metropolis"/>
              </a:rPr>
              <a:t>ACCESS SERVICES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02EA5893-629A-4E03-BB07-9B8F0F7DB871}"/>
              </a:ext>
            </a:extLst>
          </p:cNvPr>
          <p:cNvSpPr/>
          <p:nvPr/>
        </p:nvSpPr>
        <p:spPr>
          <a:xfrm>
            <a:off x="3690605" y="2755480"/>
            <a:ext cx="1554075" cy="247678"/>
          </a:xfrm>
          <a:prstGeom prst="rect">
            <a:avLst/>
          </a:prstGeom>
          <a:solidFill>
            <a:srgbClr val="459B36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16" tIns="45708" rIns="91416" bIns="45708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Aft>
                <a:spcPts val="600"/>
              </a:spcAft>
              <a:defRPr/>
            </a:pPr>
            <a:r>
              <a:rPr lang="en-US" sz="750">
                <a:solidFill>
                  <a:srgbClr val="FFFFFF"/>
                </a:solidFill>
                <a:latin typeface="Metropolis"/>
              </a:rPr>
              <a:t>Workspace ONE Portal Access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1ED7555F-34B1-4715-837F-53D5EDD75F3E}"/>
              </a:ext>
            </a:extLst>
          </p:cNvPr>
          <p:cNvSpPr/>
          <p:nvPr/>
        </p:nvSpPr>
        <p:spPr>
          <a:xfrm>
            <a:off x="2064205" y="2445518"/>
            <a:ext cx="1554075" cy="247678"/>
          </a:xfrm>
          <a:prstGeom prst="rect">
            <a:avLst/>
          </a:prstGeom>
          <a:solidFill>
            <a:srgbClr val="F8981D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16" tIns="45708" rIns="91416" bIns="45708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Aft>
                <a:spcPts val="600"/>
              </a:spcAft>
              <a:defRPr/>
            </a:pPr>
            <a:r>
              <a:rPr lang="en-US" sz="750">
                <a:solidFill>
                  <a:srgbClr val="FFFFFF"/>
                </a:solidFill>
                <a:latin typeface="Metropolis"/>
              </a:rPr>
              <a:t>3rd Party Identity Broker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4B1FCB4D-CC0B-4EB3-8F7A-959824FD2559}"/>
              </a:ext>
            </a:extLst>
          </p:cNvPr>
          <p:cNvSpPr/>
          <p:nvPr/>
        </p:nvSpPr>
        <p:spPr>
          <a:xfrm>
            <a:off x="6946669" y="2445518"/>
            <a:ext cx="1554075" cy="247678"/>
          </a:xfrm>
          <a:prstGeom prst="rect">
            <a:avLst/>
          </a:prstGeom>
          <a:solidFill>
            <a:srgbClr val="F8981C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16" tIns="45708" rIns="91416" bIns="45708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Aft>
                <a:spcPts val="600"/>
              </a:spcAft>
              <a:defRPr/>
            </a:pPr>
            <a:r>
              <a:rPr lang="en-US" sz="750">
                <a:solidFill>
                  <a:srgbClr val="FFFFFF"/>
                </a:solidFill>
                <a:latin typeface="Metropolis"/>
              </a:rPr>
              <a:t>Mobile SSO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67C93C2C-9535-43E8-B9FE-B35A2AC96650}"/>
              </a:ext>
            </a:extLst>
          </p:cNvPr>
          <p:cNvSpPr/>
          <p:nvPr/>
        </p:nvSpPr>
        <p:spPr>
          <a:xfrm>
            <a:off x="5311665" y="2445518"/>
            <a:ext cx="1554075" cy="247678"/>
          </a:xfrm>
          <a:prstGeom prst="rect">
            <a:avLst/>
          </a:prstGeom>
          <a:solidFill>
            <a:srgbClr val="F8981C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16" tIns="45708" rIns="91416" bIns="45708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Aft>
                <a:spcPts val="600"/>
              </a:spcAft>
              <a:defRPr/>
            </a:pPr>
            <a:r>
              <a:rPr lang="en-US" sz="750">
                <a:solidFill>
                  <a:srgbClr val="FFFFFF"/>
                </a:solidFill>
                <a:latin typeface="Metropolis"/>
              </a:rPr>
              <a:t>Federated SSO</a:t>
            </a:r>
          </a:p>
        </p:txBody>
      </p: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13800972-1FC8-4775-A09B-51AEEE42AA6C}"/>
              </a:ext>
            </a:extLst>
          </p:cNvPr>
          <p:cNvCxnSpPr>
            <a:cxnSpLocks/>
          </p:cNvCxnSpPr>
          <p:nvPr/>
        </p:nvCxnSpPr>
        <p:spPr bwMode="gray">
          <a:xfrm>
            <a:off x="611408" y="2331738"/>
            <a:ext cx="9690116" cy="7033"/>
          </a:xfrm>
          <a:prstGeom prst="line">
            <a:avLst/>
          </a:prstGeom>
          <a:ln w="12700">
            <a:solidFill>
              <a:schemeClr val="tx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Rectangle 35">
            <a:extLst>
              <a:ext uri="{FF2B5EF4-FFF2-40B4-BE49-F238E27FC236}">
                <a16:creationId xmlns:a16="http://schemas.microsoft.com/office/drawing/2014/main" id="{927E6500-C303-4213-82BE-96EABB56795A}"/>
              </a:ext>
            </a:extLst>
          </p:cNvPr>
          <p:cNvSpPr/>
          <p:nvPr/>
        </p:nvSpPr>
        <p:spPr>
          <a:xfrm>
            <a:off x="2064205" y="1355361"/>
            <a:ext cx="1554075" cy="240003"/>
          </a:xfrm>
          <a:prstGeom prst="rect">
            <a:avLst/>
          </a:prstGeom>
          <a:solidFill>
            <a:srgbClr val="459B36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16" tIns="45708" rIns="91416" bIns="45708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Aft>
                <a:spcPts val="600"/>
              </a:spcAft>
              <a:defRPr/>
            </a:pPr>
            <a:r>
              <a:rPr lang="en-US" sz="750">
                <a:solidFill>
                  <a:srgbClr val="FFFFFF"/>
                </a:solidFill>
                <a:latin typeface="Metropolis"/>
              </a:rPr>
              <a:t>Mobile Device Management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3B6C583E-6D81-468F-9F62-F70F418C9CF2}"/>
              </a:ext>
            </a:extLst>
          </p:cNvPr>
          <p:cNvSpPr/>
          <p:nvPr/>
        </p:nvSpPr>
        <p:spPr>
          <a:xfrm>
            <a:off x="3691258" y="1355361"/>
            <a:ext cx="1554075" cy="240003"/>
          </a:xfrm>
          <a:prstGeom prst="rect">
            <a:avLst/>
          </a:prstGeom>
          <a:solidFill>
            <a:srgbClr val="F8981D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16" tIns="45708" rIns="91416" bIns="45708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Aft>
                <a:spcPts val="600"/>
              </a:spcAft>
              <a:defRPr/>
            </a:pPr>
            <a:r>
              <a:rPr lang="en-US" sz="750">
                <a:solidFill>
                  <a:srgbClr val="FFFFFF"/>
                </a:solidFill>
                <a:latin typeface="Metropolis"/>
              </a:rPr>
              <a:t>Shared Device Management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28509E71-7824-41D9-A266-0DB642BA85D9}"/>
              </a:ext>
            </a:extLst>
          </p:cNvPr>
          <p:cNvSpPr/>
          <p:nvPr/>
        </p:nvSpPr>
        <p:spPr>
          <a:xfrm>
            <a:off x="5311665" y="1355361"/>
            <a:ext cx="1554075" cy="240003"/>
          </a:xfrm>
          <a:prstGeom prst="rect">
            <a:avLst/>
          </a:prstGeom>
          <a:solidFill>
            <a:srgbClr val="F8981D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16" tIns="45708" rIns="91416" bIns="45708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Aft>
                <a:spcPts val="600"/>
              </a:spcAft>
              <a:defRPr/>
            </a:pPr>
            <a:r>
              <a:rPr lang="en-US" sz="750">
                <a:solidFill>
                  <a:srgbClr val="FFFFFF"/>
                </a:solidFill>
                <a:latin typeface="Metropolis"/>
              </a:rPr>
              <a:t>Android OEM Extensions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EC878373-CC81-4D5E-8E55-8B3BAE01B529}"/>
              </a:ext>
            </a:extLst>
          </p:cNvPr>
          <p:cNvSpPr/>
          <p:nvPr/>
        </p:nvSpPr>
        <p:spPr>
          <a:xfrm>
            <a:off x="8559125" y="1681360"/>
            <a:ext cx="1554075" cy="240003"/>
          </a:xfrm>
          <a:prstGeom prst="rect">
            <a:avLst/>
          </a:prstGeom>
          <a:solidFill>
            <a:srgbClr val="F8981D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16" tIns="45708" rIns="91416" bIns="45708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Aft>
                <a:spcPts val="600"/>
              </a:spcAft>
              <a:defRPr/>
            </a:pPr>
            <a:r>
              <a:rPr lang="en-US" sz="750">
                <a:solidFill>
                  <a:srgbClr val="FFFFFF"/>
                </a:solidFill>
                <a:latin typeface="Metropolis"/>
              </a:rPr>
              <a:t>Advanced Mission Critical Device Management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8687DAD8-EA9A-4499-B3C3-733E5F55FB1A}"/>
              </a:ext>
            </a:extLst>
          </p:cNvPr>
          <p:cNvSpPr/>
          <p:nvPr/>
        </p:nvSpPr>
        <p:spPr>
          <a:xfrm>
            <a:off x="5311665" y="5173218"/>
            <a:ext cx="1554075" cy="247679"/>
          </a:xfrm>
          <a:prstGeom prst="rect">
            <a:avLst/>
          </a:prstGeom>
          <a:solidFill>
            <a:srgbClr val="F8981D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16" tIns="45708" rIns="91416" bIns="45708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Aft>
                <a:spcPts val="600"/>
              </a:spcAft>
              <a:defRPr/>
            </a:pPr>
            <a:r>
              <a:rPr lang="en-US" sz="750">
                <a:solidFill>
                  <a:srgbClr val="FFFFFF"/>
                </a:solidFill>
                <a:latin typeface="Metropolis"/>
              </a:rPr>
              <a:t>Pre-hire Onboarding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0076A8CE-C659-493B-83D0-3E5E7605BFA4}"/>
              </a:ext>
            </a:extLst>
          </p:cNvPr>
          <p:cNvSpPr/>
          <p:nvPr/>
        </p:nvSpPr>
        <p:spPr>
          <a:xfrm>
            <a:off x="2064205" y="5173218"/>
            <a:ext cx="1554075" cy="247679"/>
          </a:xfrm>
          <a:prstGeom prst="rect">
            <a:avLst/>
          </a:prstGeom>
          <a:solidFill>
            <a:srgbClr val="F8981D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16" tIns="45708" rIns="91416" bIns="45708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Aft>
                <a:spcPts val="600"/>
              </a:spcAft>
              <a:defRPr/>
            </a:pPr>
            <a:r>
              <a:rPr lang="en-US" sz="750">
                <a:solidFill>
                  <a:srgbClr val="FFFFFF"/>
                </a:solidFill>
                <a:latin typeface="Metropolis"/>
              </a:rPr>
              <a:t>Branding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F4BF0F06-85A3-4FA7-AD86-46D2179B0426}"/>
              </a:ext>
            </a:extLst>
          </p:cNvPr>
          <p:cNvSpPr txBox="1"/>
          <p:nvPr/>
        </p:nvSpPr>
        <p:spPr>
          <a:xfrm>
            <a:off x="611410" y="5564137"/>
            <a:ext cx="943771" cy="443713"/>
          </a:xfrm>
          <a:prstGeom prst="rect">
            <a:avLst/>
          </a:prstGeom>
        </p:spPr>
        <p:txBody>
          <a:bodyPr wrap="square" lIns="0" tIns="0" rIns="0" bIns="0" rtlCol="0" anchor="ctr">
            <a:noAutofit/>
          </a:bodyPr>
          <a:lstStyle/>
          <a:p>
            <a:pPr>
              <a:spcAft>
                <a:spcPts val="600"/>
              </a:spcAft>
              <a:defRPr/>
            </a:pPr>
            <a:r>
              <a:rPr lang="en-US" sz="900">
                <a:solidFill>
                  <a:srgbClr val="FFFFFF">
                    <a:lumMod val="50000"/>
                  </a:srgbClr>
                </a:solidFill>
                <a:latin typeface="Metropolis"/>
              </a:rPr>
              <a:t>DIGITAL EMPLOYEE EXPERIENCE</a:t>
            </a: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F54BE3F5-593D-46AD-AD6D-D02B30CD9F54}"/>
              </a:ext>
            </a:extLst>
          </p:cNvPr>
          <p:cNvSpPr/>
          <p:nvPr/>
        </p:nvSpPr>
        <p:spPr>
          <a:xfrm>
            <a:off x="2064205" y="4009851"/>
            <a:ext cx="1554075" cy="247678"/>
          </a:xfrm>
          <a:prstGeom prst="rect">
            <a:avLst/>
          </a:prstGeom>
          <a:solidFill>
            <a:srgbClr val="F8981C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16" tIns="45708" rIns="91416" bIns="45708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Aft>
                <a:spcPts val="600"/>
              </a:spcAft>
              <a:defRPr/>
            </a:pPr>
            <a:r>
              <a:rPr lang="en-US" sz="750">
                <a:solidFill>
                  <a:srgbClr val="FFFFFF"/>
                </a:solidFill>
                <a:latin typeface="Metropolis"/>
              </a:rPr>
              <a:t>Workspace ONE SDK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AC31847B-6EFB-4B30-807D-BFAE18048463}"/>
              </a:ext>
            </a:extLst>
          </p:cNvPr>
          <p:cNvSpPr/>
          <p:nvPr/>
        </p:nvSpPr>
        <p:spPr>
          <a:xfrm>
            <a:off x="3691258" y="4009851"/>
            <a:ext cx="1554075" cy="247678"/>
          </a:xfrm>
          <a:prstGeom prst="rect">
            <a:avLst/>
          </a:prstGeom>
          <a:solidFill>
            <a:srgbClr val="F8981C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16" tIns="45708" rIns="91416" bIns="45708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Aft>
                <a:spcPts val="600"/>
              </a:spcAft>
              <a:defRPr/>
            </a:pPr>
            <a:r>
              <a:rPr lang="en-US" sz="750">
                <a:solidFill>
                  <a:srgbClr val="FFFFFF"/>
                </a:solidFill>
                <a:latin typeface="Metropolis"/>
              </a:rPr>
              <a:t>App Wrapping</a:t>
            </a:r>
          </a:p>
        </p:txBody>
      </p: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AF517CBB-D2AE-456C-9EEB-333C08483595}"/>
              </a:ext>
            </a:extLst>
          </p:cNvPr>
          <p:cNvCxnSpPr>
            <a:cxnSpLocks/>
          </p:cNvCxnSpPr>
          <p:nvPr/>
        </p:nvCxnSpPr>
        <p:spPr bwMode="gray">
          <a:xfrm>
            <a:off x="623029" y="5527860"/>
            <a:ext cx="9690116" cy="7033"/>
          </a:xfrm>
          <a:prstGeom prst="line">
            <a:avLst/>
          </a:prstGeom>
          <a:ln w="12700">
            <a:solidFill>
              <a:schemeClr val="tx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Rectangle 47">
            <a:extLst>
              <a:ext uri="{FF2B5EF4-FFF2-40B4-BE49-F238E27FC236}">
                <a16:creationId xmlns:a16="http://schemas.microsoft.com/office/drawing/2014/main" id="{BBA29997-2A28-4580-9DBB-BF0DD86CBFCC}"/>
              </a:ext>
            </a:extLst>
          </p:cNvPr>
          <p:cNvSpPr/>
          <p:nvPr/>
        </p:nvSpPr>
        <p:spPr>
          <a:xfrm>
            <a:off x="2064205" y="2773986"/>
            <a:ext cx="1554075" cy="247678"/>
          </a:xfrm>
          <a:prstGeom prst="rect">
            <a:avLst/>
          </a:prstGeom>
          <a:solidFill>
            <a:srgbClr val="F8981D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16" tIns="45708" rIns="91416" bIns="45708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Aft>
                <a:spcPts val="600"/>
              </a:spcAft>
              <a:defRPr/>
            </a:pPr>
            <a:r>
              <a:rPr lang="en-US" sz="750">
                <a:solidFill>
                  <a:srgbClr val="FFFFFF"/>
                </a:solidFill>
                <a:latin typeface="Metropolis"/>
              </a:rPr>
              <a:t>Conditional Access Control</a:t>
            </a: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C09B745C-A960-4456-A693-45AB079FA13E}"/>
              </a:ext>
            </a:extLst>
          </p:cNvPr>
          <p:cNvSpPr/>
          <p:nvPr/>
        </p:nvSpPr>
        <p:spPr>
          <a:xfrm>
            <a:off x="6939366" y="3541992"/>
            <a:ext cx="1554075" cy="240003"/>
          </a:xfrm>
          <a:prstGeom prst="rect">
            <a:avLst/>
          </a:prstGeom>
          <a:solidFill>
            <a:srgbClr val="F8981D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16" tIns="45708" rIns="91416" bIns="45708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Aft>
                <a:spcPts val="600"/>
              </a:spcAft>
              <a:defRPr/>
            </a:pPr>
            <a:r>
              <a:rPr lang="en-US" sz="750">
                <a:solidFill>
                  <a:srgbClr val="FFFFFF"/>
                </a:solidFill>
                <a:latin typeface="Metropolis"/>
              </a:rPr>
              <a:t>WS1 Trust Network</a:t>
            </a: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037F6BCB-CFDD-475D-BEB6-BEA970059864}"/>
              </a:ext>
            </a:extLst>
          </p:cNvPr>
          <p:cNvSpPr/>
          <p:nvPr/>
        </p:nvSpPr>
        <p:spPr>
          <a:xfrm>
            <a:off x="3690605" y="3541991"/>
            <a:ext cx="1554075" cy="247678"/>
          </a:xfrm>
          <a:prstGeom prst="rect">
            <a:avLst/>
          </a:prstGeom>
          <a:solidFill>
            <a:srgbClr val="F8981D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16" tIns="45708" rIns="91416" bIns="45708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Aft>
                <a:spcPts val="600"/>
              </a:spcAft>
              <a:defRPr/>
            </a:pPr>
            <a:r>
              <a:rPr lang="en-US" sz="750">
                <a:solidFill>
                  <a:srgbClr val="FFFFFF"/>
                </a:solidFill>
                <a:latin typeface="Metropolis"/>
              </a:rPr>
              <a:t>Risk-Based Conditional Access</a:t>
            </a: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2F10F326-9989-43A0-8696-3597B4A65466}"/>
              </a:ext>
            </a:extLst>
          </p:cNvPr>
          <p:cNvSpPr/>
          <p:nvPr/>
        </p:nvSpPr>
        <p:spPr>
          <a:xfrm>
            <a:off x="2064205" y="3229480"/>
            <a:ext cx="1554075" cy="247678"/>
          </a:xfrm>
          <a:prstGeom prst="rect">
            <a:avLst/>
          </a:prstGeom>
          <a:solidFill>
            <a:srgbClr val="459B36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16" tIns="45708" rIns="91416" bIns="45708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Aft>
                <a:spcPts val="600"/>
              </a:spcAft>
              <a:defRPr/>
            </a:pPr>
            <a:r>
              <a:rPr lang="en-US" sz="750">
                <a:solidFill>
                  <a:srgbClr val="FFFFFF"/>
                </a:solidFill>
                <a:latin typeface="Metropolis"/>
              </a:rPr>
              <a:t>UEM Reports</a:t>
            </a: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5A8DFAF3-EC08-4DFB-B955-3F56297C205D}"/>
              </a:ext>
            </a:extLst>
          </p:cNvPr>
          <p:cNvSpPr/>
          <p:nvPr/>
        </p:nvSpPr>
        <p:spPr>
          <a:xfrm>
            <a:off x="3691258" y="3229480"/>
            <a:ext cx="1554075" cy="247678"/>
          </a:xfrm>
          <a:prstGeom prst="rect">
            <a:avLst/>
          </a:prstGeom>
          <a:solidFill>
            <a:srgbClr val="459B36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16" tIns="45708" rIns="91416" bIns="45708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Aft>
                <a:spcPts val="600"/>
              </a:spcAft>
              <a:defRPr/>
            </a:pPr>
            <a:r>
              <a:rPr lang="en-US" sz="750">
                <a:solidFill>
                  <a:srgbClr val="FFFFFF"/>
                </a:solidFill>
                <a:latin typeface="Metropolis"/>
              </a:rPr>
              <a:t>Intelligence Custom Reports</a:t>
            </a: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A54BF29C-9E32-4332-9CEA-AB44E92981EA}"/>
              </a:ext>
            </a:extLst>
          </p:cNvPr>
          <p:cNvSpPr/>
          <p:nvPr/>
        </p:nvSpPr>
        <p:spPr>
          <a:xfrm>
            <a:off x="6939367" y="3229480"/>
            <a:ext cx="1554075" cy="247678"/>
          </a:xfrm>
          <a:prstGeom prst="rect">
            <a:avLst/>
          </a:prstGeom>
          <a:solidFill>
            <a:srgbClr val="459B36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16" tIns="45708" rIns="91416" bIns="45708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Aft>
                <a:spcPts val="600"/>
              </a:spcAft>
              <a:defRPr/>
            </a:pPr>
            <a:r>
              <a:rPr lang="en-US" sz="750">
                <a:solidFill>
                  <a:srgbClr val="FFFFFF"/>
                </a:solidFill>
                <a:latin typeface="Metropolis"/>
              </a:rPr>
              <a:t>Freestyle Workflows</a:t>
            </a:r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FC366E34-94C5-4F51-B850-051A0539C999}"/>
              </a:ext>
            </a:extLst>
          </p:cNvPr>
          <p:cNvSpPr/>
          <p:nvPr/>
        </p:nvSpPr>
        <p:spPr>
          <a:xfrm>
            <a:off x="5311665" y="3229480"/>
            <a:ext cx="1554075" cy="247678"/>
          </a:xfrm>
          <a:prstGeom prst="rect">
            <a:avLst/>
          </a:prstGeom>
          <a:solidFill>
            <a:srgbClr val="459B36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16" tIns="45708" rIns="91416" bIns="45708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Aft>
                <a:spcPts val="600"/>
              </a:spcAft>
              <a:defRPr/>
            </a:pPr>
            <a:r>
              <a:rPr lang="en-US" sz="750">
                <a:solidFill>
                  <a:srgbClr val="FFFFFF"/>
                </a:solidFill>
                <a:latin typeface="Metropolis"/>
              </a:rPr>
              <a:t>Dashboards</a:t>
            </a:r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180DAA82-7B12-449F-BFB8-025F3D79D549}"/>
              </a:ext>
            </a:extLst>
          </p:cNvPr>
          <p:cNvSpPr/>
          <p:nvPr/>
        </p:nvSpPr>
        <p:spPr>
          <a:xfrm>
            <a:off x="6946669" y="4354855"/>
            <a:ext cx="1554075" cy="247678"/>
          </a:xfrm>
          <a:prstGeom prst="rect">
            <a:avLst/>
          </a:prstGeom>
          <a:solidFill>
            <a:srgbClr val="459B36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16" tIns="45708" rIns="91416" bIns="45708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Aft>
                <a:spcPts val="600"/>
              </a:spcAft>
              <a:defRPr/>
            </a:pPr>
            <a:r>
              <a:rPr lang="en-US" sz="750">
                <a:solidFill>
                  <a:srgbClr val="FFFFFF"/>
                </a:solidFill>
                <a:latin typeface="Metropolis"/>
              </a:rPr>
              <a:t>Workspace ONE Tunnel</a:t>
            </a:r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8A4A4C4B-54C7-4494-9175-FD89633C62C8}"/>
              </a:ext>
            </a:extLst>
          </p:cNvPr>
          <p:cNvSpPr/>
          <p:nvPr/>
        </p:nvSpPr>
        <p:spPr>
          <a:xfrm>
            <a:off x="5318307" y="3541991"/>
            <a:ext cx="1554075" cy="247678"/>
          </a:xfrm>
          <a:prstGeom prst="rect">
            <a:avLst/>
          </a:prstGeom>
          <a:solidFill>
            <a:srgbClr val="F8981D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16" tIns="45708" rIns="91416" bIns="45708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Aft>
                <a:spcPts val="600"/>
              </a:spcAft>
              <a:defRPr/>
            </a:pPr>
            <a:r>
              <a:rPr lang="en-US" sz="750">
                <a:solidFill>
                  <a:srgbClr val="FFFFFF"/>
                </a:solidFill>
                <a:latin typeface="Metropolis"/>
              </a:rPr>
              <a:t>Risk Analytics</a:t>
            </a:r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D55C5508-3726-473E-8207-FD97084E14D5}"/>
              </a:ext>
            </a:extLst>
          </p:cNvPr>
          <p:cNvSpPr/>
          <p:nvPr/>
        </p:nvSpPr>
        <p:spPr>
          <a:xfrm>
            <a:off x="6946669" y="4003334"/>
            <a:ext cx="1554075" cy="247678"/>
          </a:xfrm>
          <a:prstGeom prst="rect">
            <a:avLst/>
          </a:prstGeom>
          <a:solidFill>
            <a:srgbClr val="F8981D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16" tIns="45708" rIns="91416" bIns="45708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Aft>
                <a:spcPts val="600"/>
              </a:spcAft>
              <a:defRPr/>
            </a:pPr>
            <a:r>
              <a:rPr lang="en-US" sz="750">
                <a:solidFill>
                  <a:srgbClr val="FFFFFF"/>
                </a:solidFill>
                <a:latin typeface="Metropolis"/>
              </a:rPr>
              <a:t>Workspace ONE PIV-D Manager</a:t>
            </a:r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E9665096-50A0-452C-B016-59DB150274B1}"/>
              </a:ext>
            </a:extLst>
          </p:cNvPr>
          <p:cNvSpPr/>
          <p:nvPr/>
        </p:nvSpPr>
        <p:spPr>
          <a:xfrm>
            <a:off x="6939367" y="4835626"/>
            <a:ext cx="1554075" cy="247679"/>
          </a:xfrm>
          <a:prstGeom prst="rect">
            <a:avLst/>
          </a:prstGeom>
          <a:solidFill>
            <a:srgbClr val="459B36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16" tIns="45708" rIns="91416" bIns="45708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Aft>
                <a:spcPts val="600"/>
              </a:spcAft>
              <a:defRPr/>
            </a:pPr>
            <a:r>
              <a:rPr lang="en-US" sz="750">
                <a:solidFill>
                  <a:srgbClr val="FFFFFF"/>
                </a:solidFill>
                <a:latin typeface="Metropolis"/>
              </a:rPr>
              <a:t>Notifications</a:t>
            </a:r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ABD4F60A-2D6D-476F-BCB9-EC4527283089}"/>
              </a:ext>
            </a:extLst>
          </p:cNvPr>
          <p:cNvSpPr/>
          <p:nvPr/>
        </p:nvSpPr>
        <p:spPr>
          <a:xfrm>
            <a:off x="8560426" y="4835626"/>
            <a:ext cx="1554075" cy="247679"/>
          </a:xfrm>
          <a:prstGeom prst="rect">
            <a:avLst/>
          </a:prstGeom>
          <a:solidFill>
            <a:srgbClr val="459B36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16" tIns="45708" rIns="91416" bIns="45708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Aft>
                <a:spcPts val="600"/>
              </a:spcAft>
              <a:defRPr/>
            </a:pPr>
            <a:r>
              <a:rPr lang="en-US" sz="750">
                <a:solidFill>
                  <a:srgbClr val="FFFFFF"/>
                </a:solidFill>
                <a:latin typeface="Metropolis"/>
              </a:rPr>
              <a:t>Support</a:t>
            </a:r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E88FAB77-AF96-4125-BD1C-8F678492471C}"/>
              </a:ext>
            </a:extLst>
          </p:cNvPr>
          <p:cNvSpPr/>
          <p:nvPr/>
        </p:nvSpPr>
        <p:spPr>
          <a:xfrm>
            <a:off x="5311665" y="1673686"/>
            <a:ext cx="1554075" cy="247679"/>
          </a:xfrm>
          <a:prstGeom prst="rect">
            <a:avLst/>
          </a:prstGeom>
          <a:solidFill>
            <a:srgbClr val="459B36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16" tIns="45708" rIns="91416" bIns="45708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Aft>
                <a:spcPts val="600"/>
              </a:spcAft>
              <a:defRPr/>
            </a:pPr>
            <a:r>
              <a:rPr lang="en-US" sz="750">
                <a:solidFill>
                  <a:srgbClr val="FFFFFF"/>
                </a:solidFill>
                <a:latin typeface="Metropolis"/>
              </a:rPr>
              <a:t>Freestyle Orchestrator</a:t>
            </a:r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D8FF7D79-E3E5-4308-A16F-8B9BA1F4989F}"/>
              </a:ext>
            </a:extLst>
          </p:cNvPr>
          <p:cNvSpPr/>
          <p:nvPr/>
        </p:nvSpPr>
        <p:spPr>
          <a:xfrm>
            <a:off x="8559774" y="1362602"/>
            <a:ext cx="1554075" cy="247679"/>
          </a:xfrm>
          <a:prstGeom prst="rect">
            <a:avLst/>
          </a:prstGeom>
          <a:solidFill>
            <a:srgbClr val="459B36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16" tIns="45708" rIns="91416" bIns="45708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Aft>
                <a:spcPts val="600"/>
              </a:spcAft>
              <a:defRPr/>
            </a:pPr>
            <a:r>
              <a:rPr lang="en-US" sz="750">
                <a:solidFill>
                  <a:srgbClr val="FFFFFF"/>
                </a:solidFill>
                <a:latin typeface="Metropolis"/>
              </a:rPr>
              <a:t>Workspace ONE Assist </a:t>
            </a:r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29DE7366-3FCA-470F-9DDA-14C51885A120}"/>
              </a:ext>
            </a:extLst>
          </p:cNvPr>
          <p:cNvSpPr/>
          <p:nvPr/>
        </p:nvSpPr>
        <p:spPr>
          <a:xfrm>
            <a:off x="3691258" y="5173218"/>
            <a:ext cx="1554075" cy="247679"/>
          </a:xfrm>
          <a:prstGeom prst="rect">
            <a:avLst/>
          </a:prstGeom>
          <a:solidFill>
            <a:srgbClr val="F8981D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16" tIns="45708" rIns="91416" bIns="45708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Aft>
                <a:spcPts val="600"/>
              </a:spcAft>
              <a:defRPr/>
            </a:pPr>
            <a:r>
              <a:rPr lang="en-US" sz="750">
                <a:solidFill>
                  <a:srgbClr val="FFFFFF"/>
                </a:solidFill>
                <a:latin typeface="Metropolis"/>
              </a:rPr>
              <a:t>Custom Tab</a:t>
            </a:r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32FDDB1C-FF91-4BC1-A4A7-A87F95FDF16F}"/>
              </a:ext>
            </a:extLst>
          </p:cNvPr>
          <p:cNvSpPr/>
          <p:nvPr/>
        </p:nvSpPr>
        <p:spPr>
          <a:xfrm>
            <a:off x="6939367" y="1673686"/>
            <a:ext cx="1554075" cy="247679"/>
          </a:xfrm>
          <a:prstGeom prst="rect">
            <a:avLst/>
          </a:prstGeom>
          <a:solidFill>
            <a:srgbClr val="F8981D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16" tIns="45708" rIns="91416" bIns="45708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Aft>
                <a:spcPts val="600"/>
              </a:spcAft>
              <a:defRPr/>
            </a:pPr>
            <a:r>
              <a:rPr lang="en-US" sz="750">
                <a:solidFill>
                  <a:srgbClr val="FFFFFF"/>
                </a:solidFill>
                <a:latin typeface="Metropolis"/>
              </a:rPr>
              <a:t>IT Compliance Automation Engine</a:t>
            </a:r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2385C30F-87F0-4B31-A2E6-2E4ABB5CC80C}"/>
              </a:ext>
            </a:extLst>
          </p:cNvPr>
          <p:cNvSpPr/>
          <p:nvPr/>
        </p:nvSpPr>
        <p:spPr>
          <a:xfrm>
            <a:off x="10419220" y="1362602"/>
            <a:ext cx="457081" cy="247678"/>
          </a:xfrm>
          <a:prstGeom prst="rect">
            <a:avLst/>
          </a:prstGeom>
          <a:solidFill>
            <a:srgbClr val="F8981D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16" tIns="45708" rIns="91416" bIns="45708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Aft>
                <a:spcPts val="600"/>
              </a:spcAft>
              <a:defRPr/>
            </a:pPr>
            <a:endParaRPr lang="en-US" sz="750">
              <a:solidFill>
                <a:srgbClr val="FFFFFF"/>
              </a:solidFill>
              <a:latin typeface="Metropolis"/>
            </a:endParaRPr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52DE6865-34C7-4DAF-A4D8-3D516E74B2D7}"/>
              </a:ext>
            </a:extLst>
          </p:cNvPr>
          <p:cNvSpPr/>
          <p:nvPr/>
        </p:nvSpPr>
        <p:spPr>
          <a:xfrm>
            <a:off x="10419220" y="2004761"/>
            <a:ext cx="457081" cy="247678"/>
          </a:xfrm>
          <a:prstGeom prst="rect">
            <a:avLst/>
          </a:prstGeom>
          <a:solidFill>
            <a:srgbClr val="459B36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16" tIns="45708" rIns="91416" bIns="45708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Aft>
                <a:spcPts val="600"/>
              </a:spcAft>
              <a:defRPr/>
            </a:pPr>
            <a:endParaRPr lang="en-US" sz="750">
              <a:solidFill>
                <a:srgbClr val="FFFFFF"/>
              </a:solidFill>
              <a:latin typeface="Metropolis"/>
            </a:endParaRPr>
          </a:p>
        </p:txBody>
      </p:sp>
      <p:sp>
        <p:nvSpPr>
          <p:cNvPr id="70" name="Rectangle 69">
            <a:extLst>
              <a:ext uri="{FF2B5EF4-FFF2-40B4-BE49-F238E27FC236}">
                <a16:creationId xmlns:a16="http://schemas.microsoft.com/office/drawing/2014/main" id="{63B838AE-8767-4D6B-9268-8CDF7C233AC9}"/>
              </a:ext>
            </a:extLst>
          </p:cNvPr>
          <p:cNvSpPr/>
          <p:nvPr/>
        </p:nvSpPr>
        <p:spPr>
          <a:xfrm>
            <a:off x="10419220" y="2323070"/>
            <a:ext cx="457081" cy="247678"/>
          </a:xfrm>
          <a:prstGeom prst="rect">
            <a:avLst/>
          </a:prstGeom>
          <a:solidFill>
            <a:srgbClr val="1D428A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16" tIns="45708" rIns="91416" bIns="45708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Aft>
                <a:spcPts val="600"/>
              </a:spcAft>
              <a:defRPr/>
            </a:pPr>
            <a:endParaRPr lang="en-US" sz="750">
              <a:solidFill>
                <a:srgbClr val="7F35B2"/>
              </a:solidFill>
              <a:latin typeface="Metropolis"/>
            </a:endParaRP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03B78205-98D6-461C-8B51-3FC37C46537F}"/>
              </a:ext>
            </a:extLst>
          </p:cNvPr>
          <p:cNvSpPr txBox="1"/>
          <p:nvPr/>
        </p:nvSpPr>
        <p:spPr>
          <a:xfrm>
            <a:off x="11013426" y="1405224"/>
            <a:ext cx="1005579" cy="161583"/>
          </a:xfrm>
          <a:prstGeom prst="rect">
            <a:avLst/>
          </a:prstGeom>
        </p:spPr>
        <p:txBody>
          <a:bodyPr wrap="square" lIns="0" tIns="0" rIns="0" bIns="0" rtlCol="0" anchor="ctr">
            <a:spAutoFit/>
          </a:bodyPr>
          <a:lstStyle>
            <a:defPPr>
              <a:defRPr lang="en-US"/>
            </a:defPPr>
            <a:lvl1pPr>
              <a:spcAft>
                <a:spcPts val="600"/>
              </a:spcAft>
              <a:defRPr sz="1050" b="1">
                <a:solidFill>
                  <a:srgbClr val="F8981D"/>
                </a:solidFill>
              </a:defRPr>
            </a:lvl1pPr>
          </a:lstStyle>
          <a:p>
            <a:pPr>
              <a:defRPr/>
            </a:pPr>
            <a:r>
              <a:rPr lang="en-US">
                <a:latin typeface="Metropolis"/>
              </a:rPr>
              <a:t>Licensed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893160CD-B9A0-491F-98A9-DE9AFC7111B8}"/>
              </a:ext>
            </a:extLst>
          </p:cNvPr>
          <p:cNvSpPr txBox="1"/>
          <p:nvPr/>
        </p:nvSpPr>
        <p:spPr>
          <a:xfrm>
            <a:off x="11013426" y="2365691"/>
            <a:ext cx="1005579" cy="161583"/>
          </a:xfrm>
          <a:prstGeom prst="rect">
            <a:avLst/>
          </a:prstGeom>
        </p:spPr>
        <p:txBody>
          <a:bodyPr wrap="square" lIns="0" tIns="0" rIns="0" bIns="0" rtlCol="0" anchor="ctr">
            <a:spAutoFit/>
          </a:bodyPr>
          <a:lstStyle>
            <a:defPPr>
              <a:defRPr lang="en-US"/>
            </a:defPPr>
            <a:lvl1pPr>
              <a:spcAft>
                <a:spcPts val="600"/>
              </a:spcAft>
              <a:defRPr sz="1050" b="1">
                <a:solidFill>
                  <a:schemeClr val="accent2"/>
                </a:solidFill>
              </a:defRPr>
            </a:lvl1pPr>
          </a:lstStyle>
          <a:p>
            <a:pPr>
              <a:defRPr/>
            </a:pPr>
            <a:r>
              <a:rPr lang="en-US">
                <a:solidFill>
                  <a:srgbClr val="1D428A"/>
                </a:solidFill>
                <a:latin typeface="Metropolis"/>
              </a:rPr>
              <a:t>Testing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39B286F0-1134-4277-B4EF-D0A3C0E1BA60}"/>
              </a:ext>
            </a:extLst>
          </p:cNvPr>
          <p:cNvSpPr txBox="1"/>
          <p:nvPr/>
        </p:nvSpPr>
        <p:spPr>
          <a:xfrm>
            <a:off x="11013426" y="2047383"/>
            <a:ext cx="1005579" cy="161583"/>
          </a:xfrm>
          <a:prstGeom prst="rect">
            <a:avLst/>
          </a:prstGeom>
        </p:spPr>
        <p:txBody>
          <a:bodyPr wrap="square" lIns="0" tIns="0" rIns="0" bIns="0" rtlCol="0" anchor="ctr">
            <a:spAutoFit/>
          </a:bodyPr>
          <a:lstStyle/>
          <a:p>
            <a:pPr>
              <a:spcAft>
                <a:spcPts val="600"/>
              </a:spcAft>
              <a:defRPr/>
            </a:pPr>
            <a:r>
              <a:rPr lang="en-US" sz="1050" b="1">
                <a:solidFill>
                  <a:srgbClr val="459B36"/>
                </a:solidFill>
                <a:latin typeface="Metropolis"/>
              </a:rPr>
              <a:t>Deployed</a:t>
            </a:r>
          </a:p>
        </p:txBody>
      </p:sp>
      <p:sp>
        <p:nvSpPr>
          <p:cNvPr id="74" name="Rectangle 73">
            <a:extLst>
              <a:ext uri="{FF2B5EF4-FFF2-40B4-BE49-F238E27FC236}">
                <a16:creationId xmlns:a16="http://schemas.microsoft.com/office/drawing/2014/main" id="{B422C4BA-0031-478D-BBBB-3CE8DE95384D}"/>
              </a:ext>
            </a:extLst>
          </p:cNvPr>
          <p:cNvSpPr/>
          <p:nvPr/>
        </p:nvSpPr>
        <p:spPr>
          <a:xfrm>
            <a:off x="10419220" y="1688114"/>
            <a:ext cx="457081" cy="247678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16" tIns="45708" rIns="91416" bIns="45708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Aft>
                <a:spcPts val="600"/>
              </a:spcAft>
              <a:defRPr/>
            </a:pPr>
            <a:endParaRPr lang="en-US" sz="750">
              <a:solidFill>
                <a:srgbClr val="FFFFFF"/>
              </a:solidFill>
              <a:latin typeface="Metropolis"/>
            </a:endParaRP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A70CD5A5-9F7D-432D-94AE-741D08CB1482}"/>
              </a:ext>
            </a:extLst>
          </p:cNvPr>
          <p:cNvSpPr txBox="1"/>
          <p:nvPr/>
        </p:nvSpPr>
        <p:spPr>
          <a:xfrm>
            <a:off x="11013426" y="1730736"/>
            <a:ext cx="1005579" cy="161583"/>
          </a:xfrm>
          <a:prstGeom prst="rect">
            <a:avLst/>
          </a:prstGeom>
        </p:spPr>
        <p:txBody>
          <a:bodyPr wrap="square" lIns="0" tIns="0" rIns="0" bIns="0" rtlCol="0" anchor="ctr">
            <a:spAutoFit/>
          </a:bodyPr>
          <a:lstStyle>
            <a:defPPr>
              <a:defRPr lang="en-US"/>
            </a:defPPr>
            <a:lvl1pPr>
              <a:spcAft>
                <a:spcPts val="600"/>
              </a:spcAft>
              <a:defRPr sz="1050" b="1"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pPr>
              <a:defRPr/>
            </a:pPr>
            <a:r>
              <a:rPr lang="en-US">
                <a:solidFill>
                  <a:srgbClr val="FFFFFF">
                    <a:lumMod val="75000"/>
                  </a:srgbClr>
                </a:solidFill>
                <a:latin typeface="Metropolis"/>
              </a:rPr>
              <a:t>Not Licensed</a:t>
            </a:r>
          </a:p>
        </p:txBody>
      </p:sp>
      <p:sp>
        <p:nvSpPr>
          <p:cNvPr id="78" name="Title 1">
            <a:extLst>
              <a:ext uri="{FF2B5EF4-FFF2-40B4-BE49-F238E27FC236}">
                <a16:creationId xmlns:a16="http://schemas.microsoft.com/office/drawing/2014/main" id="{915096D3-4031-CE17-796A-7986F6654E04}"/>
              </a:ext>
            </a:extLst>
          </p:cNvPr>
          <p:cNvSpPr txBox="1">
            <a:spLocks/>
          </p:cNvSpPr>
          <p:nvPr/>
        </p:nvSpPr>
        <p:spPr>
          <a:xfrm>
            <a:off x="515210" y="472677"/>
            <a:ext cx="11001004" cy="381000"/>
          </a:xfrm>
          <a:prstGeom prst="rect">
            <a:avLst/>
          </a:prstGeom>
        </p:spPr>
        <p:txBody>
          <a:bodyPr vert="horz" wrap="none" lIns="0" tIns="0" rIns="0" bIns="0" rtlCol="0" anchor="b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b="0" kern="1200">
                <a:solidFill>
                  <a:schemeClr val="accent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solidFill>
                  <a:srgbClr val="1D428A"/>
                </a:solidFill>
                <a:latin typeface="Metropolis Light"/>
              </a:rPr>
              <a:t>Workspace ONE adoption map</a:t>
            </a:r>
            <a:endParaRPr lang="en-US" dirty="0">
              <a:solidFill>
                <a:srgbClr val="1D428A"/>
              </a:solidFill>
              <a:highlight>
                <a:srgbClr val="FFFF00"/>
              </a:highlight>
              <a:latin typeface="Metropolis Light"/>
            </a:endParaRPr>
          </a:p>
        </p:txBody>
      </p:sp>
      <p:sp>
        <p:nvSpPr>
          <p:cNvPr id="80" name="Rectangle 79">
            <a:extLst>
              <a:ext uri="{FF2B5EF4-FFF2-40B4-BE49-F238E27FC236}">
                <a16:creationId xmlns:a16="http://schemas.microsoft.com/office/drawing/2014/main" id="{9B4C4627-FFB2-1DBE-001C-FF79F9645BFF}"/>
              </a:ext>
            </a:extLst>
          </p:cNvPr>
          <p:cNvSpPr/>
          <p:nvPr/>
        </p:nvSpPr>
        <p:spPr>
          <a:xfrm>
            <a:off x="6946669" y="5173219"/>
            <a:ext cx="1554075" cy="247678"/>
          </a:xfrm>
          <a:prstGeom prst="rect">
            <a:avLst/>
          </a:prstGeom>
          <a:solidFill>
            <a:srgbClr val="1C418A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16" tIns="45708" rIns="91416" bIns="45708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Aft>
                <a:spcPts val="600"/>
              </a:spcAft>
              <a:defRPr/>
            </a:pPr>
            <a:r>
              <a:rPr lang="en-US" sz="750">
                <a:solidFill>
                  <a:srgbClr val="FFFFFF"/>
                </a:solidFill>
                <a:latin typeface="Metropolis"/>
              </a:rPr>
              <a:t>Quick Actions</a:t>
            </a:r>
          </a:p>
        </p:txBody>
      </p:sp>
      <p:sp>
        <p:nvSpPr>
          <p:cNvPr id="82" name="Rectangle 81">
            <a:extLst>
              <a:ext uri="{FF2B5EF4-FFF2-40B4-BE49-F238E27FC236}">
                <a16:creationId xmlns:a16="http://schemas.microsoft.com/office/drawing/2014/main" id="{EF1328A4-6074-C0FF-FD7C-C0CFB08CAB9D}"/>
              </a:ext>
            </a:extLst>
          </p:cNvPr>
          <p:cNvSpPr/>
          <p:nvPr/>
        </p:nvSpPr>
        <p:spPr>
          <a:xfrm>
            <a:off x="3691256" y="5662154"/>
            <a:ext cx="1554075" cy="247678"/>
          </a:xfrm>
          <a:prstGeom prst="rect">
            <a:avLst/>
          </a:prstGeom>
          <a:solidFill>
            <a:srgbClr val="1C418A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16" tIns="45708" rIns="91416" bIns="45708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Aft>
                <a:spcPts val="600"/>
              </a:spcAft>
              <a:defRPr/>
            </a:pPr>
            <a:r>
              <a:rPr lang="en-US" sz="750">
                <a:solidFill>
                  <a:srgbClr val="FFFFFF"/>
                </a:solidFill>
                <a:latin typeface="Metropolis"/>
              </a:rPr>
              <a:t>Software Metering</a:t>
            </a:r>
          </a:p>
        </p:txBody>
      </p:sp>
      <p:sp>
        <p:nvSpPr>
          <p:cNvPr id="83" name="Rectangle 82">
            <a:extLst>
              <a:ext uri="{FF2B5EF4-FFF2-40B4-BE49-F238E27FC236}">
                <a16:creationId xmlns:a16="http://schemas.microsoft.com/office/drawing/2014/main" id="{510B2788-3368-D94B-845E-F0BAF247BCA9}"/>
              </a:ext>
            </a:extLst>
          </p:cNvPr>
          <p:cNvSpPr/>
          <p:nvPr/>
        </p:nvSpPr>
        <p:spPr>
          <a:xfrm>
            <a:off x="5318307" y="1996583"/>
            <a:ext cx="1554075" cy="247679"/>
          </a:xfrm>
          <a:prstGeom prst="rect">
            <a:avLst/>
          </a:prstGeom>
          <a:solidFill>
            <a:srgbClr val="459B36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16" tIns="45708" rIns="91416" bIns="45708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Aft>
                <a:spcPts val="600"/>
              </a:spcAft>
              <a:defRPr/>
            </a:pPr>
            <a:r>
              <a:rPr lang="en-US" sz="750">
                <a:solidFill>
                  <a:srgbClr val="FFFFFF"/>
                </a:solidFill>
                <a:latin typeface="Metropolis"/>
              </a:rPr>
              <a:t>Scripts and Sensors</a:t>
            </a:r>
          </a:p>
        </p:txBody>
      </p:sp>
      <p:sp>
        <p:nvSpPr>
          <p:cNvPr id="85" name="Rectangle 84">
            <a:extLst>
              <a:ext uri="{FF2B5EF4-FFF2-40B4-BE49-F238E27FC236}">
                <a16:creationId xmlns:a16="http://schemas.microsoft.com/office/drawing/2014/main" id="{B5159D5E-BF4A-56F0-4765-B00C10DCB43A}"/>
              </a:ext>
            </a:extLst>
          </p:cNvPr>
          <p:cNvSpPr/>
          <p:nvPr/>
        </p:nvSpPr>
        <p:spPr>
          <a:xfrm>
            <a:off x="2064205" y="5668422"/>
            <a:ext cx="1554075" cy="247679"/>
          </a:xfrm>
          <a:prstGeom prst="rect">
            <a:avLst/>
          </a:prstGeom>
          <a:solidFill>
            <a:srgbClr val="F8981D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16" tIns="45708" rIns="91416" bIns="45708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Aft>
                <a:spcPts val="600"/>
              </a:spcAft>
              <a:defRPr/>
            </a:pPr>
            <a:r>
              <a:rPr lang="en-US" sz="750">
                <a:solidFill>
                  <a:srgbClr val="FFFFFF"/>
                </a:solidFill>
                <a:latin typeface="Metropolis"/>
              </a:rPr>
              <a:t>Experience Score</a:t>
            </a:r>
          </a:p>
        </p:txBody>
      </p:sp>
      <p:sp>
        <p:nvSpPr>
          <p:cNvPr id="86" name="Rectangle 85">
            <a:extLst>
              <a:ext uri="{FF2B5EF4-FFF2-40B4-BE49-F238E27FC236}">
                <a16:creationId xmlns:a16="http://schemas.microsoft.com/office/drawing/2014/main" id="{06C24621-FDA0-BD7C-A0A0-72F79620E772}"/>
              </a:ext>
            </a:extLst>
          </p:cNvPr>
          <p:cNvSpPr/>
          <p:nvPr/>
        </p:nvSpPr>
        <p:spPr>
          <a:xfrm>
            <a:off x="2064204" y="6007850"/>
            <a:ext cx="1554075" cy="247679"/>
          </a:xfrm>
          <a:prstGeom prst="rect">
            <a:avLst/>
          </a:prstGeom>
          <a:solidFill>
            <a:srgbClr val="F8981D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16" tIns="45708" rIns="91416" bIns="45708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Aft>
                <a:spcPts val="600"/>
              </a:spcAft>
              <a:defRPr/>
            </a:pPr>
            <a:r>
              <a:rPr lang="en-US" sz="750">
                <a:solidFill>
                  <a:srgbClr val="FFFFFF"/>
                </a:solidFill>
                <a:latin typeface="Metropolis"/>
              </a:rPr>
              <a:t>Insights</a:t>
            </a:r>
          </a:p>
        </p:txBody>
      </p:sp>
      <p:sp>
        <p:nvSpPr>
          <p:cNvPr id="87" name="Rectangle 86">
            <a:extLst>
              <a:ext uri="{FF2B5EF4-FFF2-40B4-BE49-F238E27FC236}">
                <a16:creationId xmlns:a16="http://schemas.microsoft.com/office/drawing/2014/main" id="{F9E55BC8-C74C-6193-43B5-951D0249056C}"/>
              </a:ext>
            </a:extLst>
          </p:cNvPr>
          <p:cNvSpPr/>
          <p:nvPr/>
        </p:nvSpPr>
        <p:spPr>
          <a:xfrm>
            <a:off x="3691256" y="6004622"/>
            <a:ext cx="1554075" cy="247679"/>
          </a:xfrm>
          <a:prstGeom prst="rect">
            <a:avLst/>
          </a:prstGeom>
          <a:solidFill>
            <a:srgbClr val="F8981D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16" tIns="45708" rIns="91416" bIns="45708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Aft>
                <a:spcPts val="600"/>
              </a:spcAft>
              <a:defRPr/>
            </a:pPr>
            <a:r>
              <a:rPr lang="en-US" sz="750">
                <a:solidFill>
                  <a:srgbClr val="FFFFFF"/>
                </a:solidFill>
                <a:latin typeface="Metropolis"/>
              </a:rPr>
              <a:t>Playbooks</a:t>
            </a:r>
          </a:p>
        </p:txBody>
      </p:sp>
      <p:sp>
        <p:nvSpPr>
          <p:cNvPr id="88" name="Rectangle 87">
            <a:extLst>
              <a:ext uri="{FF2B5EF4-FFF2-40B4-BE49-F238E27FC236}">
                <a16:creationId xmlns:a16="http://schemas.microsoft.com/office/drawing/2014/main" id="{4EC49F48-A7B1-5A88-9E0D-B87B5231ACD4}"/>
              </a:ext>
            </a:extLst>
          </p:cNvPr>
          <p:cNvSpPr/>
          <p:nvPr/>
        </p:nvSpPr>
        <p:spPr>
          <a:xfrm>
            <a:off x="5318962" y="5664575"/>
            <a:ext cx="1554075" cy="247679"/>
          </a:xfrm>
          <a:prstGeom prst="rect">
            <a:avLst/>
          </a:prstGeom>
          <a:solidFill>
            <a:srgbClr val="F8981D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16" tIns="45708" rIns="91416" bIns="45708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Aft>
                <a:spcPts val="600"/>
              </a:spcAft>
              <a:defRPr/>
            </a:pPr>
            <a:r>
              <a:rPr lang="en-US" sz="750">
                <a:solidFill>
                  <a:srgbClr val="FFFFFF"/>
                </a:solidFill>
                <a:latin typeface="Metropolis"/>
              </a:rPr>
              <a:t>Surveys</a:t>
            </a:r>
          </a:p>
        </p:txBody>
      </p:sp>
      <p:sp>
        <p:nvSpPr>
          <p:cNvPr id="89" name="Rectangle 88">
            <a:extLst>
              <a:ext uri="{FF2B5EF4-FFF2-40B4-BE49-F238E27FC236}">
                <a16:creationId xmlns:a16="http://schemas.microsoft.com/office/drawing/2014/main" id="{A22D3BD2-C682-449F-A60C-1C1A5835A524}"/>
              </a:ext>
            </a:extLst>
          </p:cNvPr>
          <p:cNvSpPr/>
          <p:nvPr/>
        </p:nvSpPr>
        <p:spPr>
          <a:xfrm>
            <a:off x="5318962" y="5994507"/>
            <a:ext cx="1554075" cy="247679"/>
          </a:xfrm>
          <a:prstGeom prst="rect">
            <a:avLst/>
          </a:prstGeom>
          <a:solidFill>
            <a:srgbClr val="F8981D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16" tIns="45708" rIns="91416" bIns="45708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Aft>
                <a:spcPts val="600"/>
              </a:spcAft>
              <a:defRPr/>
            </a:pPr>
            <a:r>
              <a:rPr lang="en-US" sz="750">
                <a:solidFill>
                  <a:srgbClr val="FFFFFF"/>
                </a:solidFill>
                <a:latin typeface="Metropolis"/>
              </a:rPr>
              <a:t>Synthetic URL monitoring</a:t>
            </a:r>
          </a:p>
        </p:txBody>
      </p:sp>
      <p:sp>
        <p:nvSpPr>
          <p:cNvPr id="90" name="Rectangle 89">
            <a:extLst>
              <a:ext uri="{FF2B5EF4-FFF2-40B4-BE49-F238E27FC236}">
                <a16:creationId xmlns:a16="http://schemas.microsoft.com/office/drawing/2014/main" id="{2490F854-A794-A7B0-A267-B2F3CBA80D42}"/>
              </a:ext>
            </a:extLst>
          </p:cNvPr>
          <p:cNvSpPr/>
          <p:nvPr/>
        </p:nvSpPr>
        <p:spPr>
          <a:xfrm>
            <a:off x="6939366" y="5655919"/>
            <a:ext cx="1554075" cy="247679"/>
          </a:xfrm>
          <a:prstGeom prst="rect">
            <a:avLst/>
          </a:prstGeom>
          <a:solidFill>
            <a:srgbClr val="F8981D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16" tIns="45708" rIns="91416" bIns="45708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Aft>
                <a:spcPts val="600"/>
              </a:spcAft>
              <a:defRPr/>
            </a:pPr>
            <a:r>
              <a:rPr lang="en-US" sz="750">
                <a:solidFill>
                  <a:srgbClr val="FFFFFF"/>
                </a:solidFill>
                <a:latin typeface="Metropolis"/>
              </a:rPr>
              <a:t>Marketplace</a:t>
            </a:r>
          </a:p>
        </p:txBody>
      </p:sp>
      <p:sp>
        <p:nvSpPr>
          <p:cNvPr id="91" name="Rectangle 90">
            <a:extLst>
              <a:ext uri="{FF2B5EF4-FFF2-40B4-BE49-F238E27FC236}">
                <a16:creationId xmlns:a16="http://schemas.microsoft.com/office/drawing/2014/main" id="{CA63DCFA-F0E5-7550-12C4-FC28E435B43C}"/>
              </a:ext>
            </a:extLst>
          </p:cNvPr>
          <p:cNvSpPr/>
          <p:nvPr/>
        </p:nvSpPr>
        <p:spPr>
          <a:xfrm>
            <a:off x="6946669" y="1998555"/>
            <a:ext cx="1554075" cy="247678"/>
          </a:xfrm>
          <a:prstGeom prst="rect">
            <a:avLst/>
          </a:prstGeom>
          <a:solidFill>
            <a:srgbClr val="459B36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16" tIns="45708" rIns="91416" bIns="45708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Aft>
                <a:spcPts val="600"/>
              </a:spcAft>
              <a:defRPr/>
            </a:pPr>
            <a:r>
              <a:rPr lang="en-US" sz="750">
                <a:solidFill>
                  <a:srgbClr val="FFFFFF"/>
                </a:solidFill>
                <a:latin typeface="Metropolis"/>
              </a:rPr>
              <a:t>Tunnel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8E83DF9-6F1B-8A33-E322-0C2F90B02943}"/>
              </a:ext>
            </a:extLst>
          </p:cNvPr>
          <p:cNvSpPr/>
          <p:nvPr/>
        </p:nvSpPr>
        <p:spPr>
          <a:xfrm>
            <a:off x="8573720" y="1996583"/>
            <a:ext cx="1554075" cy="240003"/>
          </a:xfrm>
          <a:prstGeom prst="rect">
            <a:avLst/>
          </a:prstGeom>
          <a:solidFill>
            <a:srgbClr val="F8981D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16" tIns="45708" rIns="91416" bIns="45708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Aft>
                <a:spcPts val="600"/>
              </a:spcAft>
              <a:defRPr/>
            </a:pPr>
            <a:r>
              <a:rPr lang="en-US" sz="750">
                <a:solidFill>
                  <a:srgbClr val="FFFFFF"/>
                </a:solidFill>
                <a:latin typeface="Metropolis"/>
              </a:rPr>
              <a:t>Intel vPro Chip-to-cloud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EEE8541-CF8E-E39D-EC74-2EC979E60851}"/>
              </a:ext>
            </a:extLst>
          </p:cNvPr>
          <p:cNvSpPr txBox="1"/>
          <p:nvPr/>
        </p:nvSpPr>
        <p:spPr>
          <a:xfrm>
            <a:off x="7951180" y="468748"/>
            <a:ext cx="372561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200" i="1" dirty="0"/>
              <a:t>License: Workspace ONE Enterprise</a:t>
            </a:r>
          </a:p>
        </p:txBody>
      </p:sp>
    </p:spTree>
    <p:extLst>
      <p:ext uri="{BB962C8B-B14F-4D97-AF65-F5344CB8AC3E}">
        <p14:creationId xmlns:p14="http://schemas.microsoft.com/office/powerpoint/2010/main" val="392004607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181</Words>
  <Application>Microsoft Macintosh PowerPoint</Application>
  <PresentationFormat>Widescreen</PresentationFormat>
  <Paragraphs>67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Aptos</vt:lpstr>
      <vt:lpstr>Aptos Display</vt:lpstr>
      <vt:lpstr>Arial</vt:lpstr>
      <vt:lpstr>Metropolis</vt:lpstr>
      <vt:lpstr>Metropolis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Fahad Khan</dc:creator>
  <cp:lastModifiedBy>Mathieu Beaugrand</cp:lastModifiedBy>
  <cp:revision>2</cp:revision>
  <dcterms:created xsi:type="dcterms:W3CDTF">2026-02-16T04:09:14Z</dcterms:created>
  <dcterms:modified xsi:type="dcterms:W3CDTF">2026-04-22T08:56:03Z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defa4170-0d19-0005-0004-bc88714345d2_Enabled">
    <vt:lpwstr>true</vt:lpwstr>
  </property>
  <property fmtid="{D5CDD505-2E9C-101B-9397-08002B2CF9AE}" pid="3" name="MSIP_Label_defa4170-0d19-0005-0004-bc88714345d2_SetDate">
    <vt:lpwstr>2026-02-16T04:09:38Z</vt:lpwstr>
  </property>
  <property fmtid="{D5CDD505-2E9C-101B-9397-08002B2CF9AE}" pid="4" name="MSIP_Label_defa4170-0d19-0005-0004-bc88714345d2_Method">
    <vt:lpwstr>Standard</vt:lpwstr>
  </property>
  <property fmtid="{D5CDD505-2E9C-101B-9397-08002B2CF9AE}" pid="5" name="MSIP_Label_defa4170-0d19-0005-0004-bc88714345d2_Name">
    <vt:lpwstr>defa4170-0d19-0005-0004-bc88714345d2</vt:lpwstr>
  </property>
  <property fmtid="{D5CDD505-2E9C-101B-9397-08002B2CF9AE}" pid="6" name="MSIP_Label_defa4170-0d19-0005-0004-bc88714345d2_SiteId">
    <vt:lpwstr>894f681c-e4bb-489b-91ff-bd6ddcb0a402</vt:lpwstr>
  </property>
  <property fmtid="{D5CDD505-2E9C-101B-9397-08002B2CF9AE}" pid="7" name="MSIP_Label_defa4170-0d19-0005-0004-bc88714345d2_ActionId">
    <vt:lpwstr>92bea405-bcd8-49f4-83b1-f36c72eeebe9</vt:lpwstr>
  </property>
  <property fmtid="{D5CDD505-2E9C-101B-9397-08002B2CF9AE}" pid="8" name="MSIP_Label_defa4170-0d19-0005-0004-bc88714345d2_ContentBits">
    <vt:lpwstr>0</vt:lpwstr>
  </property>
  <property fmtid="{D5CDD505-2E9C-101B-9397-08002B2CF9AE}" pid="9" name="MSIP_Label_defa4170-0d19-0005-0004-bc88714345d2_Tag">
    <vt:lpwstr>50, 3, 0, 1</vt:lpwstr>
  </property>
</Properties>
</file>