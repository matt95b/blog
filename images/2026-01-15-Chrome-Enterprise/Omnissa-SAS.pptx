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8F4933B-714D-9092-4CC7-860E2971F323}" name="Gerard Kennedy" initials="GK" userId="S::gkennedy@omnissa.com::4a14cebf-e093-4be5-9300-ddf5a122365b" providerId="AD"/>
  <p188:author id="{3E66627C-7837-3839-DC99-EF7C8DC83BF7}" name="Mathieu Beaugrand" initials="MB" userId="S::mbeaugrand@omnissa.com::f3ff5cac-f8f4-45a4-9213-ffabcd8a7a05" providerId="AD"/>
  <p188:author id="{8ED51D8C-0071-28E2-6954-E82DBC1F35AF}" name="Steve DeJarnett" initials="SD" userId="S::sdejarnett@omnissa.com::1d08dae7-70be-480b-a101-90cf45e9657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70"/>
    <p:restoredTop sz="96301"/>
  </p:normalViewPr>
  <p:slideViewPr>
    <p:cSldViewPr snapToGrid="0" snapToObjects="1">
      <p:cViewPr varScale="1">
        <p:scale>
          <a:sx n="119" d="100"/>
          <a:sy n="119" d="100"/>
        </p:scale>
        <p:origin x="208" y="3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699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Positioning drawn from the Omnissa Secure Access Suite product page and Tech Zone deployment guide, plus Google's Chrome Enterprise Core / Premium tiering. Confirm entitlement and pricing specifics against the Omnissa product guide before using with a customer.</a:t>
            </a:r>
          </a:p>
          <a:p>
            <a:endParaRPr/>
          </a:p>
          <a:p>
            <a:r>
              <a:t>Point to land: ADMX or AppConfig is a delivery mechanism for settings. It is not a licence for the Chrome Enterprise Premium cloud services, and it only reaches endpoints the customer owns and manages.</a:t>
            </a:r>
          </a:p>
          <a:p>
            <a:endParaRPr/>
          </a:p>
          <a:p>
            <a:r>
              <a:t>Simplified from ten rows to six. Merged: unmanaged/BYO + platform coverage + deployment model + work/personal separation into 'Reach across endpoints'; internal app access + unified user experience into 'Access to every app'.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784848" y="1060704"/>
            <a:ext cx="5129784" cy="4480560"/>
          </a:xfrm>
          <a:prstGeom prst="roundRect">
            <a:avLst>
              <a:gd name="adj" fmla="val 3500"/>
            </a:avLst>
          </a:prstGeom>
          <a:solidFill>
            <a:srgbClr val="EE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200" b="1" i="0">
                <a:solidFill>
                  <a:srgbClr val="1B2A5B"/>
                </a:solidFill>
                <a:latin typeface="Cambria"/>
              </a:rPr>
              <a:t>Beyond browser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6384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00" b="0" i="1">
                <a:solidFill>
                  <a:srgbClr val="6B7280"/>
                </a:solidFill>
                <a:latin typeface="Calibri"/>
              </a:rPr>
              <a:t>Centralise Chrome management and reporting to enhance your security posture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133856"/>
            <a:ext cx="21214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950" b="1" i="0">
                <a:solidFill>
                  <a:srgbClr val="6B7280"/>
                </a:solidFill>
                <a:latin typeface="Calibri"/>
              </a:rPr>
              <a:t>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133856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Chrome config via ADMX / AppConfig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67728" y="1133856"/>
            <a:ext cx="476402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200" b="1" i="0">
                <a:solidFill>
                  <a:srgbClr val="C41E8C"/>
                </a:solidFill>
                <a:latin typeface="Calibri"/>
              </a:rPr>
              <a:t>Omnissa Secure Access Suite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746504"/>
            <a:ext cx="274320" cy="274320"/>
          </a:xfrm>
          <a:prstGeom prst="ellipse">
            <a:avLst/>
          </a:prstGeom>
          <a:solidFill>
            <a:srgbClr val="2E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591056"/>
            <a:ext cx="2121408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4000"/>
              </a:lnSpc>
            </a:pPr>
            <a:r>
              <a:rPr sz="1200" b="1" i="0">
                <a:solidFill>
                  <a:srgbClr val="1B2A5B"/>
                </a:solidFill>
                <a:latin typeface="Calibri"/>
              </a:rPr>
              <a:t>Real-time threat protection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591056"/>
            <a:ext cx="356616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4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Writes the policy switch; the inspection services behind it are not included.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7728" y="1591056"/>
            <a:ext cx="4764024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4000"/>
              </a:lnSpc>
            </a:pPr>
            <a:r>
              <a:rPr sz="1000" b="0" i="0">
                <a:solidFill>
                  <a:srgbClr val="242A38"/>
                </a:solidFill>
                <a:latin typeface="Calibri"/>
              </a:rPr>
              <a:t>Licensed Chrome Enterprise Premium services — real-time URL checks, malware deep scanning and detonation, Evidence Locker.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08276"/>
            <a:ext cx="11274552" cy="6350"/>
          </a:xfrm>
          <a:prstGeom prst="rect">
            <a:avLst/>
          </a:prstGeom>
          <a:solidFill>
            <a:srgbClr val="DD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2404872"/>
            <a:ext cx="274320" cy="274320"/>
          </a:xfrm>
          <a:prstGeom prst="ellipse">
            <a:avLst/>
          </a:prstGeom>
          <a:solidFill>
            <a:srgbClr val="2E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49424"/>
            <a:ext cx="2121408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4000"/>
              </a:lnSpc>
            </a:pPr>
            <a:r>
              <a:rPr sz="1200" b="1" i="0">
                <a:solidFill>
                  <a:srgbClr val="1B2A5B"/>
                </a:solidFill>
                <a:latin typeface="Calibri"/>
              </a:rPr>
              <a:t>Data controls in the browser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249424"/>
            <a:ext cx="356616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4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No content-aware inspection or enforcement.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2249424"/>
            <a:ext cx="4764024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4000"/>
              </a:lnSpc>
            </a:pPr>
            <a:r>
              <a:rPr sz="1000" b="0" i="0">
                <a:solidFill>
                  <a:srgbClr val="242A38"/>
                </a:solidFill>
                <a:latin typeface="Calibri"/>
              </a:rPr>
              <a:t>Per-app copy, paste, print, upload and download controls, watermarking with user identity, OCR inside images and data masking.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66644"/>
            <a:ext cx="11274552" cy="6350"/>
          </a:xfrm>
          <a:prstGeom prst="rect">
            <a:avLst/>
          </a:prstGeom>
          <a:solidFill>
            <a:srgbClr val="DD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57200" y="3063239"/>
            <a:ext cx="274320" cy="274320"/>
          </a:xfrm>
          <a:prstGeom prst="ellipse">
            <a:avLst/>
          </a:prstGeom>
          <a:solidFill>
            <a:srgbClr val="2E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2907791"/>
            <a:ext cx="2121408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4000"/>
              </a:lnSpc>
            </a:pPr>
            <a:r>
              <a:rPr sz="1200" b="1" i="0">
                <a:solidFill>
                  <a:srgbClr val="1B2A5B"/>
                </a:solidFill>
                <a:latin typeface="Calibri"/>
              </a:rPr>
              <a:t>Reach across endpoints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2907791"/>
            <a:ext cx="356616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4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One policy set per OS, and only on the endpoints you own and manage.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2907791"/>
            <a:ext cx="4764024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4000"/>
              </a:lnSpc>
            </a:pPr>
            <a:r>
              <a:rPr sz="1000" b="0" i="0">
                <a:solidFill>
                  <a:srgbClr val="242A38"/>
                </a:solidFill>
                <a:latin typeface="Calibri"/>
              </a:rPr>
              <a:t>One policy plane across Windows, macOS, Linux, ChromeOS, iOS and Android. A managed Chrome profile applies in a minute on a contractor laptop or personal Mac — no enrolment, and personal browsing stays outside the work container.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25012"/>
            <a:ext cx="11274552" cy="6350"/>
          </a:xfrm>
          <a:prstGeom prst="rect">
            <a:avLst/>
          </a:prstGeom>
          <a:solidFill>
            <a:srgbClr val="DD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200" y="3721608"/>
            <a:ext cx="274320" cy="274320"/>
          </a:xfrm>
          <a:prstGeom prst="ellipse">
            <a:avLst/>
          </a:prstGeom>
          <a:solidFill>
            <a:srgbClr val="2E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3566160"/>
            <a:ext cx="2121408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4000"/>
              </a:lnSpc>
            </a:pPr>
            <a:r>
              <a:rPr sz="1200" b="1" i="0">
                <a:solidFill>
                  <a:srgbClr val="1B2A5B"/>
                </a:solidFill>
                <a:latin typeface="Calibri"/>
              </a:rPr>
              <a:t>Device trust at sign-in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3566160"/>
            <a:ext cx="356616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4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No connection to the identity provider.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3566160"/>
            <a:ext cx="4764024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4000"/>
              </a:lnSpc>
            </a:pPr>
            <a:r>
              <a:rPr sz="1000" b="0" i="0">
                <a:solidFill>
                  <a:srgbClr val="242A38"/>
                </a:solidFill>
                <a:latin typeface="Calibri"/>
              </a:rPr>
              <a:t>Chrome device signals feed Omnissa Access, so disk encryption, firewall and screen lock become conditions of app access.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183380"/>
            <a:ext cx="11274552" cy="6350"/>
          </a:xfrm>
          <a:prstGeom prst="rect">
            <a:avLst/>
          </a:prstGeom>
          <a:solidFill>
            <a:srgbClr val="DD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7200" y="4379976"/>
            <a:ext cx="274320" cy="274320"/>
          </a:xfrm>
          <a:prstGeom prst="ellipse">
            <a:avLst/>
          </a:prstGeom>
          <a:solidFill>
            <a:srgbClr val="2E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4224528"/>
            <a:ext cx="2121408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4000"/>
              </a:lnSpc>
            </a:pPr>
            <a:r>
              <a:rPr sz="1200" b="1" i="0">
                <a:solidFill>
                  <a:srgbClr val="1B2A5B"/>
                </a:solidFill>
                <a:latin typeface="Calibri"/>
              </a:rPr>
              <a:t>Visibility and reporting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224528"/>
            <a:ext cx="356616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4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Confirms a setting was written, not what happened afterwards.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4224528"/>
            <a:ext cx="4764024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4000"/>
              </a:lnSpc>
            </a:pPr>
            <a:r>
              <a:rPr sz="1000" b="0" i="0">
                <a:solidFill>
                  <a:srgbClr val="242A38"/>
                </a:solidFill>
                <a:latin typeface="Calibri"/>
              </a:rPr>
              <a:t>Managed browser and profile cloud reporting, DLP incident evidence and browser extension inventory returned to 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841748"/>
            <a:ext cx="11274552" cy="6350"/>
          </a:xfrm>
          <a:prstGeom prst="rect">
            <a:avLst/>
          </a:prstGeom>
          <a:solidFill>
            <a:srgbClr val="DD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5038344"/>
            <a:ext cx="274320" cy="274320"/>
          </a:xfrm>
          <a:prstGeom prst="ellipse">
            <a:avLst/>
          </a:prstGeom>
          <a:solidFill>
            <a:srgbClr val="2E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4882896"/>
            <a:ext cx="2121408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4000"/>
              </a:lnSpc>
            </a:pPr>
            <a:r>
              <a:rPr sz="1200" b="1" i="0">
                <a:solidFill>
                  <a:srgbClr val="1B2A5B"/>
                </a:solidFill>
                <a:latin typeface="Calibri"/>
              </a:rPr>
              <a:t>Access to every app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4882896"/>
            <a:ext cx="356616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4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Configures the browser; connectivity and entitlement stay separate projects.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4882896"/>
            <a:ext cx="4764024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4000"/>
              </a:lnSpc>
            </a:pPr>
            <a:r>
              <a:rPr sz="1000" b="0" i="0">
                <a:solidFill>
                  <a:srgbClr val="242A38"/>
                </a:solidFill>
                <a:latin typeface="Calibri"/>
              </a:rPr>
              <a:t>Omnissa Hub gives one catalog across SaaS, internal web, native and virtual apps, with SSO, federation to your IdP, and per-app VPN through Tunnel and UAG.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760720"/>
            <a:ext cx="11274552" cy="530352"/>
          </a:xfrm>
          <a:prstGeom prst="roundRect">
            <a:avLst>
              <a:gd name="adj" fmla="val 26000"/>
            </a:avLst>
          </a:prstGeom>
          <a:solidFill>
            <a:srgbClr val="1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219456" bIns="0" rtlCol="0" anchor="ctr"/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Configuration secures the endpoints you own.  </a:t>
            </a:r>
            <a:r>
              <a:rPr sz="1300" b="1" i="0">
                <a:solidFill>
                  <a:srgbClr val="F2B8DD"/>
                </a:solidFill>
                <a:latin typeface="Calibri"/>
              </a:rPr>
              <a:t>Secure Access Suite secures the session — on any endpoint, inspected in real time, gated by device posture.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</TotalTime>
  <Words>423</Words>
  <Application>Microsoft Macintosh PowerPoint</Application>
  <PresentationFormat>Widescreen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Mathieu Beaugrand</cp:lastModifiedBy>
  <cp:revision>6</cp:revision>
  <dcterms:created xsi:type="dcterms:W3CDTF">2013-01-27T09:14:16Z</dcterms:created>
  <dcterms:modified xsi:type="dcterms:W3CDTF">2026-09-18T03:16:17Z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2026-08-26T03:02:48Z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894f681c-e4bb-489b-91ff-bd6ddcb0a402</vt:lpwstr>
  </property>
  <property fmtid="{D5CDD505-2E9C-101B-9397-08002B2CF9AE}" pid="7" name="MSIP_Label_defa4170-0d19-0005-0004-bc88714345d2_ActionId">
    <vt:lpwstr>195e20c8-255c-4dd8-b0c1-6ff222cb1c82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